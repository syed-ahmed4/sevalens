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SevaLens: an offline, multilingual document assistant for service shops, built to run inference on the Snapdragon NPU.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comes from running an eSeva shop: repetitive data entry, mixed-language documents, and privacy-sensitive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four-step flow. Replace the mock-up with real screenshots or a screen recording of your build once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each platform trait as a design constraint and show the specific choice that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model inference is the only heavy step and it is routed to the Hexagon NPU through the ONNX Runtime QNN execution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design targets,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real-world origin of the idea and the privacy and deployment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3"/>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SevaLens</a:t>
            </a:r>
            <a:endParaRPr lang="en-US" sz="5400" dirty="0"/>
          </a:p>
        </p:txBody>
      </p:sp>
      <p:sp>
        <p:nvSpPr>
          <p:cNvPr id="3" name="Text 1"/>
          <p:cNvSpPr txBox="1"/>
          <p:nvPr/>
        </p:nvSpPr>
        <p:spPr>
          <a:xfrm>
            <a:off x="548640" y="2194560"/>
            <a:ext cx="5303520" cy="9144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NPU-powered offline document assistant for Snapdragon® PCs</a:t>
            </a:r>
            <a:endParaRPr lang="en-US" sz="2000" dirty="0"/>
          </a:p>
        </p:txBody>
      </p:sp>
      <p:sp>
        <p:nvSpPr>
          <p:cNvPr id="4" name="Text 2"/>
          <p:cNvSpPr txBox="1"/>
          <p:nvPr/>
        </p:nvSpPr>
        <p:spPr>
          <a:xfrm>
            <a:off x="548640" y="4297680"/>
            <a:ext cx="5943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Snapdragon® AI Lab Build &amp; Present Challenge  |  Syed Ahmed</a:t>
            </a:r>
            <a:endParaRPr lang="en-US" sz="1200" dirty="0"/>
          </a:p>
        </p:txBody>
      </p:sp>
      <p:sp>
        <p:nvSpPr>
          <p:cNvPr id="5" name="Shape 3"/>
          <p:cNvSpPr/>
          <p:nvPr/>
        </p:nvSpPr>
        <p:spPr>
          <a:xfrm>
            <a:off x="6309360" y="1097280"/>
            <a:ext cx="2377440" cy="868680"/>
          </a:xfrm>
          <a:prstGeom prst="roundRect">
            <a:avLst>
              <a:gd name="adj" fmla="val 12632"/>
            </a:avLst>
          </a:prstGeom>
          <a:solidFill>
            <a:srgbClr val="14305A"/>
          </a:solidFill>
          <a:ln w="12700">
            <a:solidFill>
              <a:srgbClr val="14305A"/>
            </a:solidFill>
            <a:prstDash val="solid"/>
          </a:ln>
        </p:spPr>
      </p:sp>
      <p:sp>
        <p:nvSpPr>
          <p:cNvPr id="6" name="Text 4"/>
          <p:cNvSpPr txBox="1"/>
          <p:nvPr/>
        </p:nvSpPr>
        <p:spPr>
          <a:xfrm>
            <a:off x="6446520" y="1097280"/>
            <a:ext cx="2103120"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100% on-device</a:t>
            </a:r>
            <a:endParaRPr lang="en-US" sz="1700" dirty="0"/>
          </a:p>
          <a:p>
            <a:pPr indent="0" marL="0">
              <a:buNone/>
            </a:pPr>
            <a:r>
              <a:rPr lang="en-US" sz="1100" dirty="0">
                <a:solidFill>
                  <a:srgbClr val="CADCFC"/>
                </a:solidFill>
                <a:latin typeface="Calibri" pitchFamily="34" charset="0"/>
                <a:ea typeface="Calibri" pitchFamily="34" charset="-122"/>
                <a:cs typeface="Calibri" pitchFamily="34" charset="-120"/>
              </a:rPr>
              <a:t>No uploads, no internet</a:t>
            </a:r>
            <a:endParaRPr lang="en-US" sz="1700" dirty="0"/>
          </a:p>
        </p:txBody>
      </p:sp>
      <p:sp>
        <p:nvSpPr>
          <p:cNvPr id="7" name="Shape 5"/>
          <p:cNvSpPr/>
          <p:nvPr/>
        </p:nvSpPr>
        <p:spPr>
          <a:xfrm>
            <a:off x="6309360" y="2148840"/>
            <a:ext cx="2377440" cy="868680"/>
          </a:xfrm>
          <a:prstGeom prst="roundRect">
            <a:avLst>
              <a:gd name="adj" fmla="val 12632"/>
            </a:avLst>
          </a:prstGeom>
          <a:solidFill>
            <a:srgbClr val="14305A"/>
          </a:solidFill>
          <a:ln w="12700">
            <a:solidFill>
              <a:srgbClr val="14305A"/>
            </a:solidFill>
            <a:prstDash val="solid"/>
          </a:ln>
        </p:spPr>
      </p:sp>
      <p:sp>
        <p:nvSpPr>
          <p:cNvPr id="8" name="Text 6"/>
          <p:cNvSpPr txBox="1"/>
          <p:nvPr/>
        </p:nvSpPr>
        <p:spPr>
          <a:xfrm>
            <a:off x="6446520" y="2148840"/>
            <a:ext cx="2103120"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Native ARM64</a:t>
            </a:r>
            <a:endParaRPr lang="en-US" sz="1700" dirty="0"/>
          </a:p>
          <a:p>
            <a:pPr indent="0" marL="0">
              <a:buNone/>
            </a:pPr>
            <a:r>
              <a:rPr lang="en-US" sz="1100" dirty="0">
                <a:solidFill>
                  <a:srgbClr val="CADCFC"/>
                </a:solidFill>
                <a:latin typeface="Calibri" pitchFamily="34" charset="0"/>
                <a:ea typeface="Calibri" pitchFamily="34" charset="-122"/>
                <a:cs typeface="Calibri" pitchFamily="34" charset="-120"/>
              </a:rPr>
              <a:t>No x86 emulation</a:t>
            </a:r>
            <a:endParaRPr lang="en-US" sz="1700" dirty="0"/>
          </a:p>
        </p:txBody>
      </p:sp>
      <p:sp>
        <p:nvSpPr>
          <p:cNvPr id="9" name="Shape 7"/>
          <p:cNvSpPr/>
          <p:nvPr/>
        </p:nvSpPr>
        <p:spPr>
          <a:xfrm>
            <a:off x="6309360" y="3200400"/>
            <a:ext cx="2377440" cy="868680"/>
          </a:xfrm>
          <a:prstGeom prst="roundRect">
            <a:avLst>
              <a:gd name="adj" fmla="val 12632"/>
            </a:avLst>
          </a:prstGeom>
          <a:solidFill>
            <a:srgbClr val="14305A"/>
          </a:solidFill>
          <a:ln w="12700">
            <a:solidFill>
              <a:srgbClr val="14305A"/>
            </a:solidFill>
            <a:prstDash val="solid"/>
          </a:ln>
        </p:spPr>
      </p:sp>
      <p:sp>
        <p:nvSpPr>
          <p:cNvPr id="10" name="Text 8"/>
          <p:cNvSpPr txBox="1"/>
          <p:nvPr/>
        </p:nvSpPr>
        <p:spPr>
          <a:xfrm>
            <a:off x="6446520" y="3200400"/>
            <a:ext cx="2103120"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 HI · UR · TE</a:t>
            </a:r>
            <a:endParaRPr lang="en-US" sz="1700" dirty="0"/>
          </a:p>
          <a:p>
            <a:pPr indent="0" marL="0">
              <a:buNone/>
            </a:pPr>
            <a:r>
              <a:rPr lang="en-US" sz="1100" dirty="0">
                <a:solidFill>
                  <a:srgbClr val="CADCFC"/>
                </a:solidFill>
                <a:latin typeface="Calibri" pitchFamily="34" charset="0"/>
                <a:ea typeface="Calibri" pitchFamily="34" charset="-122"/>
                <a:cs typeface="Calibri" pitchFamily="34" charset="-120"/>
              </a:rPr>
              <a:t>Four languages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0A1A33"/>
                </a:solidFill>
                <a:latin typeface="Cambria" pitchFamily="34" charset="0"/>
                <a:ea typeface="Cambria" pitchFamily="34" charset="-122"/>
                <a:cs typeface="Cambria" pitchFamily="34" charset="-120"/>
              </a:rPr>
              <a:t>Service shops retype the same data all day</a:t>
            </a:r>
            <a:endParaRPr lang="en-US" sz="3200" dirty="0"/>
          </a:p>
        </p:txBody>
      </p:sp>
      <p:sp>
        <p:nvSpPr>
          <p:cNvPr id="3" name="Text 1"/>
          <p:cNvSpPr txBox="1"/>
          <p:nvPr/>
        </p:nvSpPr>
        <p:spPr>
          <a:xfrm>
            <a:off x="457200" y="1371600"/>
            <a:ext cx="3840480" cy="3017520"/>
          </a:xfrm>
          <a:prstGeom prst="rect">
            <a:avLst/>
          </a:prstGeom>
          <a:noFill/>
          <a:ln/>
        </p:spPr>
        <p:txBody>
          <a:bodyPr wrap="square" lIns="0" tIns="0" rIns="0" bIns="0" rtlCol="0" anchor="t"/>
          <a:lstStyle/>
          <a:p>
            <a:pPr indent="0" marL="0">
              <a:buNone/>
            </a:pPr>
            <a:r>
              <a:rPr lang="en-US" sz="1600" dirty="0">
                <a:solidFill>
                  <a:srgbClr val="222B3A"/>
                </a:solidFill>
                <a:latin typeface="Calibri" pitchFamily="34" charset="0"/>
                <a:ea typeface="Calibri" pitchFamily="34" charset="-122"/>
                <a:cs typeface="Calibri" pitchFamily="34" charset="-120"/>
              </a:rPr>
              <a:t>Every application, from scholarships to certificates, needs the same ID details typed in by hand. Documents arrive as photos and scans in several languages, and cloud tools mean sending citizens' most sensitive papers off the shop's own laptop.</a:t>
            </a:r>
            <a:endParaRPr lang="en-US" sz="1600" dirty="0"/>
          </a:p>
        </p:txBody>
      </p:sp>
      <p:sp>
        <p:nvSpPr>
          <p:cNvPr id="4" name="Shape 2"/>
          <p:cNvSpPr/>
          <p:nvPr/>
        </p:nvSpPr>
        <p:spPr>
          <a:xfrm>
            <a:off x="4663440" y="1371600"/>
            <a:ext cx="4023360" cy="960120"/>
          </a:xfrm>
          <a:prstGeom prst="roundRect">
            <a:avLst>
              <a:gd name="adj" fmla="val 9524"/>
            </a:avLst>
          </a:prstGeom>
          <a:solidFill>
            <a:srgbClr val="F4F6FA"/>
          </a:solidFill>
          <a:ln w="12700">
            <a:solidFill>
              <a:srgbClr val="F4F6FA"/>
            </a:solidFill>
            <a:prstDash val="solid"/>
          </a:ln>
        </p:spPr>
      </p:sp>
      <p:sp>
        <p:nvSpPr>
          <p:cNvPr id="5" name="Shape 3"/>
          <p:cNvSpPr/>
          <p:nvPr/>
        </p:nvSpPr>
        <p:spPr>
          <a:xfrm>
            <a:off x="4846320" y="1627632"/>
            <a:ext cx="457200" cy="457200"/>
          </a:xfrm>
          <a:prstGeom prst="ellipse">
            <a:avLst/>
          </a:prstGeom>
          <a:solidFill>
            <a:srgbClr val="E8452C"/>
          </a:solidFill>
          <a:ln w="12700">
            <a:solidFill>
              <a:srgbClr val="E8452C"/>
            </a:solidFill>
            <a:prstDash val="solid"/>
          </a:ln>
        </p:spPr>
      </p:sp>
      <p:sp>
        <p:nvSpPr>
          <p:cNvPr id="6" name="Text 4"/>
          <p:cNvSpPr txBox="1"/>
          <p:nvPr/>
        </p:nvSpPr>
        <p:spPr>
          <a:xfrm>
            <a:off x="4846320"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5486400" y="1371600"/>
            <a:ext cx="306324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Repetitive</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Same name, DOB and address keyed into form after form</a:t>
            </a:r>
            <a:endParaRPr lang="en-US" sz="1500" dirty="0"/>
          </a:p>
        </p:txBody>
      </p:sp>
      <p:sp>
        <p:nvSpPr>
          <p:cNvPr id="8" name="Shape 6"/>
          <p:cNvSpPr/>
          <p:nvPr/>
        </p:nvSpPr>
        <p:spPr>
          <a:xfrm>
            <a:off x="4663440" y="2514600"/>
            <a:ext cx="4023360" cy="960120"/>
          </a:xfrm>
          <a:prstGeom prst="roundRect">
            <a:avLst>
              <a:gd name="adj" fmla="val 9524"/>
            </a:avLst>
          </a:prstGeom>
          <a:solidFill>
            <a:srgbClr val="F4F6FA"/>
          </a:solidFill>
          <a:ln w="12700">
            <a:solidFill>
              <a:srgbClr val="F4F6FA"/>
            </a:solidFill>
            <a:prstDash val="solid"/>
          </a:ln>
        </p:spPr>
      </p:sp>
      <p:sp>
        <p:nvSpPr>
          <p:cNvPr id="9" name="Shape 7"/>
          <p:cNvSpPr/>
          <p:nvPr/>
        </p:nvSpPr>
        <p:spPr>
          <a:xfrm>
            <a:off x="4846320" y="2770632"/>
            <a:ext cx="457200" cy="457200"/>
          </a:xfrm>
          <a:prstGeom prst="ellipse">
            <a:avLst/>
          </a:prstGeom>
          <a:solidFill>
            <a:srgbClr val="E8452C"/>
          </a:solidFill>
          <a:ln w="12700">
            <a:solidFill>
              <a:srgbClr val="E8452C"/>
            </a:solidFill>
            <a:prstDash val="solid"/>
          </a:ln>
        </p:spPr>
      </p:sp>
      <p:sp>
        <p:nvSpPr>
          <p:cNvPr id="10" name="Text 8"/>
          <p:cNvSpPr txBox="1"/>
          <p:nvPr/>
        </p:nvSpPr>
        <p:spPr>
          <a:xfrm>
            <a:off x="4846320" y="2770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486400" y="2514600"/>
            <a:ext cx="306324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Multilingual</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English, Hindi, Urdu and Telugu on one desk</a:t>
            </a:r>
            <a:endParaRPr lang="en-US" sz="1500" dirty="0"/>
          </a:p>
        </p:txBody>
      </p:sp>
      <p:sp>
        <p:nvSpPr>
          <p:cNvPr id="12" name="Shape 10"/>
          <p:cNvSpPr/>
          <p:nvPr/>
        </p:nvSpPr>
        <p:spPr>
          <a:xfrm>
            <a:off x="4663440" y="3657600"/>
            <a:ext cx="4023360" cy="960120"/>
          </a:xfrm>
          <a:prstGeom prst="roundRect">
            <a:avLst>
              <a:gd name="adj" fmla="val 9524"/>
            </a:avLst>
          </a:prstGeom>
          <a:solidFill>
            <a:srgbClr val="F4F6FA"/>
          </a:solidFill>
          <a:ln w="12700">
            <a:solidFill>
              <a:srgbClr val="F4F6FA"/>
            </a:solidFill>
            <a:prstDash val="solid"/>
          </a:ln>
        </p:spPr>
      </p:sp>
      <p:sp>
        <p:nvSpPr>
          <p:cNvPr id="13" name="Shape 11"/>
          <p:cNvSpPr/>
          <p:nvPr/>
        </p:nvSpPr>
        <p:spPr>
          <a:xfrm>
            <a:off x="4846320" y="3913632"/>
            <a:ext cx="457200" cy="457200"/>
          </a:xfrm>
          <a:prstGeom prst="ellipse">
            <a:avLst/>
          </a:prstGeom>
          <a:solidFill>
            <a:srgbClr val="E8452C"/>
          </a:solidFill>
          <a:ln w="12700">
            <a:solidFill>
              <a:srgbClr val="E8452C"/>
            </a:solidFill>
            <a:prstDash val="solid"/>
          </a:ln>
        </p:spPr>
      </p:sp>
      <p:sp>
        <p:nvSpPr>
          <p:cNvPr id="14" name="Text 12"/>
          <p:cNvSpPr txBox="1"/>
          <p:nvPr/>
        </p:nvSpPr>
        <p:spPr>
          <a:xfrm>
            <a:off x="4846320" y="3913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5486400" y="3657600"/>
            <a:ext cx="306324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Sensitive</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ID scans should not need to leave the machine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0A1A33"/>
                </a:solidFill>
                <a:latin typeface="Cambria" pitchFamily="34" charset="0"/>
                <a:ea typeface="Cambria" pitchFamily="34" charset="-122"/>
                <a:cs typeface="Cambria" pitchFamily="34" charset="-120"/>
              </a:rPr>
              <a:t>Scan, read, fill: all offline</a:t>
            </a:r>
            <a:endParaRPr lang="en-US" sz="3200" dirty="0"/>
          </a:p>
        </p:txBody>
      </p:sp>
      <p:sp>
        <p:nvSpPr>
          <p:cNvPr id="3" name="Shape 1"/>
          <p:cNvSpPr/>
          <p:nvPr/>
        </p:nvSpPr>
        <p:spPr>
          <a:xfrm>
            <a:off x="457200" y="1481328"/>
            <a:ext cx="457200" cy="457200"/>
          </a:xfrm>
          <a:prstGeom prst="ellipse">
            <a:avLst/>
          </a:prstGeom>
          <a:solidFill>
            <a:srgbClr val="0A1A33"/>
          </a:solidFill>
          <a:ln w="12700">
            <a:solidFill>
              <a:srgbClr val="0A1A33"/>
            </a:solidFill>
            <a:prstDash val="solid"/>
          </a:ln>
        </p:spPr>
      </p:sp>
      <p:sp>
        <p:nvSpPr>
          <p:cNvPr id="4" name="Text 2"/>
          <p:cNvSpPr txBox="1"/>
          <p:nvPr/>
        </p:nvSpPr>
        <p:spPr>
          <a:xfrm>
            <a:off x="457200" y="1481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43000" y="1371600"/>
            <a:ext cx="3200400" cy="68580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Capture</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Scan or photograph an ID, certificate or form</a:t>
            </a:r>
            <a:endParaRPr lang="en-US" sz="1500" dirty="0"/>
          </a:p>
        </p:txBody>
      </p:sp>
      <p:sp>
        <p:nvSpPr>
          <p:cNvPr id="6" name="Shape 4"/>
          <p:cNvSpPr/>
          <p:nvPr/>
        </p:nvSpPr>
        <p:spPr>
          <a:xfrm>
            <a:off x="457200" y="2304288"/>
            <a:ext cx="457200" cy="457200"/>
          </a:xfrm>
          <a:prstGeom prst="ellipse">
            <a:avLst/>
          </a:prstGeom>
          <a:solidFill>
            <a:srgbClr val="0A1A33"/>
          </a:solidFill>
          <a:ln w="12700">
            <a:solidFill>
              <a:srgbClr val="0A1A33"/>
            </a:solidFill>
            <a:prstDash val="solid"/>
          </a:ln>
        </p:spPr>
      </p:sp>
      <p:sp>
        <p:nvSpPr>
          <p:cNvPr id="7" name="Text 5"/>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143000" y="2194560"/>
            <a:ext cx="3200400" cy="68580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Read</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OCR on the NPU reads English, Hindi, Urdu, Telugu</a:t>
            </a:r>
            <a:endParaRPr lang="en-US" sz="1500" dirty="0"/>
          </a:p>
        </p:txBody>
      </p:sp>
      <p:sp>
        <p:nvSpPr>
          <p:cNvPr id="9" name="Shape 7"/>
          <p:cNvSpPr/>
          <p:nvPr/>
        </p:nvSpPr>
        <p:spPr>
          <a:xfrm>
            <a:off x="457200" y="3127248"/>
            <a:ext cx="457200" cy="457200"/>
          </a:xfrm>
          <a:prstGeom prst="ellipse">
            <a:avLst/>
          </a:prstGeom>
          <a:solidFill>
            <a:srgbClr val="0A1A33"/>
          </a:solidFill>
          <a:ln w="12700">
            <a:solidFill>
              <a:srgbClr val="0A1A33"/>
            </a:solidFill>
            <a:prstDash val="solid"/>
          </a:ln>
        </p:spPr>
      </p:sp>
      <p:sp>
        <p:nvSpPr>
          <p:cNvPr id="10" name="Text 8"/>
          <p:cNvSpPr txBox="1"/>
          <p:nvPr/>
        </p:nvSpPr>
        <p:spPr>
          <a:xfrm>
            <a:off x="457200" y="31272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143000" y="3017520"/>
            <a:ext cx="3200400" cy="68580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Extract</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Name, DOB, ID number structured and validated</a:t>
            </a:r>
            <a:endParaRPr lang="en-US" sz="1500" dirty="0"/>
          </a:p>
        </p:txBody>
      </p:sp>
      <p:sp>
        <p:nvSpPr>
          <p:cNvPr id="12" name="Shape 10"/>
          <p:cNvSpPr/>
          <p:nvPr/>
        </p:nvSpPr>
        <p:spPr>
          <a:xfrm>
            <a:off x="457200" y="3950208"/>
            <a:ext cx="457200" cy="457200"/>
          </a:xfrm>
          <a:prstGeom prst="ellipse">
            <a:avLst/>
          </a:prstGeom>
          <a:solidFill>
            <a:srgbClr val="0A1A33"/>
          </a:solidFill>
          <a:ln w="12700">
            <a:solidFill>
              <a:srgbClr val="0A1A33"/>
            </a:solidFill>
            <a:prstDash val="solid"/>
          </a:ln>
        </p:spPr>
      </p:sp>
      <p:sp>
        <p:nvSpPr>
          <p:cNvPr id="13" name="Text 11"/>
          <p:cNvSpPr txBox="1"/>
          <p:nvPr/>
        </p:nvSpPr>
        <p:spPr>
          <a:xfrm>
            <a:off x="457200" y="39502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143000" y="3840480"/>
            <a:ext cx="3200400" cy="68580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Autofill</a:t>
            </a:r>
            <a:endParaRPr lang="en-US" sz="1500" dirty="0"/>
          </a:p>
          <a:p>
            <a:pPr indent="0" marL="0">
              <a:buNone/>
            </a:pPr>
            <a:r>
              <a:rPr lang="en-US" sz="1200" dirty="0">
                <a:solidFill>
                  <a:srgbClr val="5B6577"/>
                </a:solidFill>
                <a:latin typeface="Calibri" pitchFamily="34" charset="0"/>
                <a:ea typeface="Calibri" pitchFamily="34" charset="-122"/>
                <a:cs typeface="Calibri" pitchFamily="34" charset="-120"/>
              </a:rPr>
              <a:t>Values fill the target form; operator confirms</a:t>
            </a:r>
            <a:endParaRPr lang="en-US" sz="1500" dirty="0"/>
          </a:p>
        </p:txBody>
      </p:sp>
      <p:sp>
        <p:nvSpPr>
          <p:cNvPr id="15" name="Shape 13"/>
          <p:cNvSpPr/>
          <p:nvPr/>
        </p:nvSpPr>
        <p:spPr>
          <a:xfrm>
            <a:off x="4754880" y="1371600"/>
            <a:ext cx="3931920" cy="3154680"/>
          </a:xfrm>
          <a:prstGeom prst="roundRect">
            <a:avLst>
              <a:gd name="adj" fmla="val 2899"/>
            </a:avLst>
          </a:prstGeom>
          <a:solidFill>
            <a:srgbClr val="F4F6FA"/>
          </a:solidFill>
          <a:ln w="12700">
            <a:solidFill>
              <a:srgbClr val="D5DAE5"/>
            </a:solidFill>
            <a:prstDash val="solid"/>
          </a:ln>
        </p:spPr>
      </p:sp>
      <p:sp>
        <p:nvSpPr>
          <p:cNvPr id="16" name="Text 14"/>
          <p:cNvSpPr txBox="1"/>
          <p:nvPr/>
        </p:nvSpPr>
        <p:spPr>
          <a:xfrm>
            <a:off x="4937760" y="1463040"/>
            <a:ext cx="3566160" cy="274320"/>
          </a:xfrm>
          <a:prstGeom prst="rect">
            <a:avLst/>
          </a:prstGeom>
          <a:noFill/>
          <a:ln/>
        </p:spPr>
        <p:txBody>
          <a:bodyPr wrap="square" lIns="0" tIns="0" rIns="0" bIns="0" rtlCol="0" anchor="ctr"/>
          <a:lstStyle/>
          <a:p>
            <a:pPr indent="0" marL="0">
              <a:buNone/>
            </a:pPr>
            <a:r>
              <a:rPr lang="en-US" sz="1000" i="1" dirty="0">
                <a:solidFill>
                  <a:srgbClr val="5B6577"/>
                </a:solidFill>
                <a:latin typeface="Calibri" pitchFamily="34" charset="0"/>
                <a:ea typeface="Calibri" pitchFamily="34" charset="-122"/>
                <a:cs typeface="Calibri" pitchFamily="34" charset="-120"/>
              </a:rPr>
              <a:t>Illustrative UI mock-up</a:t>
            </a:r>
            <a:endParaRPr lang="en-US" sz="1000" dirty="0"/>
          </a:p>
        </p:txBody>
      </p:sp>
      <p:sp>
        <p:nvSpPr>
          <p:cNvPr id="17" name="Shape 15"/>
          <p:cNvSpPr/>
          <p:nvPr/>
        </p:nvSpPr>
        <p:spPr>
          <a:xfrm>
            <a:off x="4937760" y="1874520"/>
            <a:ext cx="1371600" cy="2103120"/>
          </a:xfrm>
          <a:prstGeom prst="rect">
            <a:avLst/>
          </a:prstGeom>
          <a:solidFill>
            <a:srgbClr val="FFFFFF"/>
          </a:solidFill>
          <a:ln w="12700">
            <a:solidFill>
              <a:srgbClr val="D5DAE5"/>
            </a:solidFill>
            <a:prstDash val="solid"/>
          </a:ln>
        </p:spPr>
      </p:sp>
      <p:sp>
        <p:nvSpPr>
          <p:cNvPr id="18" name="Shape 16"/>
          <p:cNvSpPr/>
          <p:nvPr/>
        </p:nvSpPr>
        <p:spPr>
          <a:xfrm>
            <a:off x="5074920" y="2057400"/>
            <a:ext cx="1097280" cy="73152"/>
          </a:xfrm>
          <a:prstGeom prst="rect">
            <a:avLst/>
          </a:prstGeom>
          <a:solidFill>
            <a:srgbClr val="C9CFDB"/>
          </a:solidFill>
          <a:ln w="12700">
            <a:solidFill>
              <a:srgbClr val="C9CFDB"/>
            </a:solidFill>
            <a:prstDash val="solid"/>
          </a:ln>
        </p:spPr>
      </p:sp>
      <p:sp>
        <p:nvSpPr>
          <p:cNvPr id="19" name="Shape 17"/>
          <p:cNvSpPr/>
          <p:nvPr/>
        </p:nvSpPr>
        <p:spPr>
          <a:xfrm>
            <a:off x="5074920" y="2286000"/>
            <a:ext cx="822960" cy="73152"/>
          </a:xfrm>
          <a:prstGeom prst="rect">
            <a:avLst/>
          </a:prstGeom>
          <a:solidFill>
            <a:srgbClr val="C9CFDB"/>
          </a:solidFill>
          <a:ln w="12700">
            <a:solidFill>
              <a:srgbClr val="C9CFDB"/>
            </a:solidFill>
            <a:prstDash val="solid"/>
          </a:ln>
        </p:spPr>
      </p:sp>
      <p:sp>
        <p:nvSpPr>
          <p:cNvPr id="20" name="Shape 18"/>
          <p:cNvSpPr/>
          <p:nvPr/>
        </p:nvSpPr>
        <p:spPr>
          <a:xfrm>
            <a:off x="5074920" y="2514600"/>
            <a:ext cx="1097280" cy="73152"/>
          </a:xfrm>
          <a:prstGeom prst="rect">
            <a:avLst/>
          </a:prstGeom>
          <a:solidFill>
            <a:srgbClr val="C9CFDB"/>
          </a:solidFill>
          <a:ln w="12700">
            <a:solidFill>
              <a:srgbClr val="C9CFDB"/>
            </a:solidFill>
            <a:prstDash val="solid"/>
          </a:ln>
        </p:spPr>
      </p:sp>
      <p:sp>
        <p:nvSpPr>
          <p:cNvPr id="21" name="Shape 19"/>
          <p:cNvSpPr/>
          <p:nvPr/>
        </p:nvSpPr>
        <p:spPr>
          <a:xfrm>
            <a:off x="5074920" y="2743200"/>
            <a:ext cx="822960" cy="73152"/>
          </a:xfrm>
          <a:prstGeom prst="rect">
            <a:avLst/>
          </a:prstGeom>
          <a:solidFill>
            <a:srgbClr val="C9CFDB"/>
          </a:solidFill>
          <a:ln w="12700">
            <a:solidFill>
              <a:srgbClr val="C9CFDB"/>
            </a:solidFill>
            <a:prstDash val="solid"/>
          </a:ln>
        </p:spPr>
      </p:sp>
      <p:sp>
        <p:nvSpPr>
          <p:cNvPr id="22" name="Shape 20"/>
          <p:cNvSpPr/>
          <p:nvPr/>
        </p:nvSpPr>
        <p:spPr>
          <a:xfrm>
            <a:off x="5074920" y="2971800"/>
            <a:ext cx="1097280" cy="73152"/>
          </a:xfrm>
          <a:prstGeom prst="rect">
            <a:avLst/>
          </a:prstGeom>
          <a:solidFill>
            <a:srgbClr val="C9CFDB"/>
          </a:solidFill>
          <a:ln w="12700">
            <a:solidFill>
              <a:srgbClr val="C9CFDB"/>
            </a:solidFill>
            <a:prstDash val="solid"/>
          </a:ln>
        </p:spPr>
      </p:sp>
      <p:sp>
        <p:nvSpPr>
          <p:cNvPr id="23" name="Shape 21"/>
          <p:cNvSpPr/>
          <p:nvPr/>
        </p:nvSpPr>
        <p:spPr>
          <a:xfrm>
            <a:off x="5074920" y="3200400"/>
            <a:ext cx="822960" cy="73152"/>
          </a:xfrm>
          <a:prstGeom prst="rect">
            <a:avLst/>
          </a:prstGeom>
          <a:solidFill>
            <a:srgbClr val="C9CFDB"/>
          </a:solidFill>
          <a:ln w="12700">
            <a:solidFill>
              <a:srgbClr val="C9CFDB"/>
            </a:solidFill>
            <a:prstDash val="solid"/>
          </a:ln>
        </p:spPr>
      </p:sp>
      <p:sp>
        <p:nvSpPr>
          <p:cNvPr id="24" name="Text 22"/>
          <p:cNvSpPr txBox="1"/>
          <p:nvPr/>
        </p:nvSpPr>
        <p:spPr>
          <a:xfrm>
            <a:off x="4937760" y="4023360"/>
            <a:ext cx="1371600" cy="274320"/>
          </a:xfrm>
          <a:prstGeom prst="rect">
            <a:avLst/>
          </a:prstGeom>
          <a:noFill/>
          <a:ln/>
        </p:spPr>
        <p:txBody>
          <a:bodyPr wrap="square" lIns="0" tIns="0" rIns="0" bIns="0" rtlCol="0" anchor="ctr"/>
          <a:lstStyle/>
          <a:p>
            <a:pPr indent="0" marL="0">
              <a:buNone/>
            </a:pPr>
            <a:r>
              <a:rPr lang="en-US" sz="900" dirty="0">
                <a:solidFill>
                  <a:srgbClr val="5B6577"/>
                </a:solidFill>
                <a:latin typeface="Calibri" pitchFamily="34" charset="0"/>
                <a:ea typeface="Calibri" pitchFamily="34" charset="-122"/>
                <a:cs typeface="Calibri" pitchFamily="34" charset="-120"/>
              </a:rPr>
              <a:t>Scanned ID (sample)</a:t>
            </a:r>
            <a:endParaRPr lang="en-US" sz="900" dirty="0"/>
          </a:p>
        </p:txBody>
      </p:sp>
      <p:sp>
        <p:nvSpPr>
          <p:cNvPr id="25" name="Text 23"/>
          <p:cNvSpPr txBox="1"/>
          <p:nvPr/>
        </p:nvSpPr>
        <p:spPr>
          <a:xfrm>
            <a:off x="6492240" y="1874520"/>
            <a:ext cx="2011680" cy="201168"/>
          </a:xfrm>
          <a:prstGeom prst="rect">
            <a:avLst/>
          </a:prstGeom>
          <a:noFill/>
          <a:ln/>
        </p:spPr>
        <p:txBody>
          <a:bodyPr wrap="square" lIns="0" tIns="0" rIns="0" bIns="0" rtlCol="0" anchor="ctr"/>
          <a:lstStyle/>
          <a:p>
            <a:pPr indent="0" marL="0">
              <a:buNone/>
            </a:pPr>
            <a:r>
              <a:rPr lang="en-US" sz="900" dirty="0">
                <a:solidFill>
                  <a:srgbClr val="5B6577"/>
                </a:solidFill>
                <a:latin typeface="Calibri" pitchFamily="34" charset="0"/>
                <a:ea typeface="Calibri" pitchFamily="34" charset="-122"/>
                <a:cs typeface="Calibri" pitchFamily="34" charset="-120"/>
              </a:rPr>
              <a:t>Name</a:t>
            </a:r>
            <a:endParaRPr lang="en-US" sz="900" dirty="0"/>
          </a:p>
        </p:txBody>
      </p:sp>
      <p:sp>
        <p:nvSpPr>
          <p:cNvPr id="26" name="Shape 24"/>
          <p:cNvSpPr/>
          <p:nvPr/>
        </p:nvSpPr>
        <p:spPr>
          <a:xfrm>
            <a:off x="6492240" y="2093976"/>
            <a:ext cx="2011680" cy="274320"/>
          </a:xfrm>
          <a:prstGeom prst="roundRect">
            <a:avLst>
              <a:gd name="adj" fmla="val 16667"/>
            </a:avLst>
          </a:prstGeom>
          <a:solidFill>
            <a:srgbClr val="FFFFFF"/>
          </a:solidFill>
          <a:ln w="12700">
            <a:solidFill>
              <a:srgbClr val="E8452C"/>
            </a:solidFill>
            <a:prstDash val="solid"/>
          </a:ln>
        </p:spPr>
      </p:sp>
      <p:sp>
        <p:nvSpPr>
          <p:cNvPr id="27" name="Text 25"/>
          <p:cNvSpPr txBox="1"/>
          <p:nvPr/>
        </p:nvSpPr>
        <p:spPr>
          <a:xfrm>
            <a:off x="6565392" y="2093976"/>
            <a:ext cx="1874520" cy="274320"/>
          </a:xfrm>
          <a:prstGeom prst="rect">
            <a:avLst/>
          </a:prstGeom>
          <a:noFill/>
          <a:ln/>
        </p:spPr>
        <p:txBody>
          <a:bodyPr wrap="square" lIns="0" tIns="0" rIns="0" bIns="0" rtlCol="0" anchor="ctr"/>
          <a:lstStyle/>
          <a:p>
            <a:pPr indent="0" marL="0">
              <a:buNone/>
            </a:pPr>
            <a:r>
              <a:rPr lang="en-US" sz="1100" dirty="0">
                <a:solidFill>
                  <a:srgbClr val="0A1A33"/>
                </a:solidFill>
                <a:latin typeface="Calibri" pitchFamily="34" charset="0"/>
                <a:ea typeface="Calibri" pitchFamily="34" charset="-122"/>
                <a:cs typeface="Calibri" pitchFamily="34" charset="-120"/>
              </a:rPr>
              <a:t>A. Sample Name</a:t>
            </a:r>
            <a:endParaRPr lang="en-US" sz="1100" dirty="0"/>
          </a:p>
        </p:txBody>
      </p:sp>
      <p:sp>
        <p:nvSpPr>
          <p:cNvPr id="28" name="Text 26"/>
          <p:cNvSpPr txBox="1"/>
          <p:nvPr/>
        </p:nvSpPr>
        <p:spPr>
          <a:xfrm>
            <a:off x="6492240" y="2441448"/>
            <a:ext cx="2011680" cy="201168"/>
          </a:xfrm>
          <a:prstGeom prst="rect">
            <a:avLst/>
          </a:prstGeom>
          <a:noFill/>
          <a:ln/>
        </p:spPr>
        <p:txBody>
          <a:bodyPr wrap="square" lIns="0" tIns="0" rIns="0" bIns="0" rtlCol="0" anchor="ctr"/>
          <a:lstStyle/>
          <a:p>
            <a:pPr indent="0" marL="0">
              <a:buNone/>
            </a:pPr>
            <a:r>
              <a:rPr lang="en-US" sz="900" dirty="0">
                <a:solidFill>
                  <a:srgbClr val="5B6577"/>
                </a:solidFill>
                <a:latin typeface="Calibri" pitchFamily="34" charset="0"/>
                <a:ea typeface="Calibri" pitchFamily="34" charset="-122"/>
                <a:cs typeface="Calibri" pitchFamily="34" charset="-120"/>
              </a:rPr>
              <a:t>Date of birth</a:t>
            </a:r>
            <a:endParaRPr lang="en-US" sz="900" dirty="0"/>
          </a:p>
        </p:txBody>
      </p:sp>
      <p:sp>
        <p:nvSpPr>
          <p:cNvPr id="29" name="Shape 27"/>
          <p:cNvSpPr/>
          <p:nvPr/>
        </p:nvSpPr>
        <p:spPr>
          <a:xfrm>
            <a:off x="6492240" y="2660904"/>
            <a:ext cx="2011680" cy="274320"/>
          </a:xfrm>
          <a:prstGeom prst="roundRect">
            <a:avLst>
              <a:gd name="adj" fmla="val 16667"/>
            </a:avLst>
          </a:prstGeom>
          <a:solidFill>
            <a:srgbClr val="FFFFFF"/>
          </a:solidFill>
          <a:ln w="12700">
            <a:solidFill>
              <a:srgbClr val="E8452C"/>
            </a:solidFill>
            <a:prstDash val="solid"/>
          </a:ln>
        </p:spPr>
      </p:sp>
      <p:sp>
        <p:nvSpPr>
          <p:cNvPr id="30" name="Text 28"/>
          <p:cNvSpPr txBox="1"/>
          <p:nvPr/>
        </p:nvSpPr>
        <p:spPr>
          <a:xfrm>
            <a:off x="6565392" y="2660904"/>
            <a:ext cx="1874520" cy="274320"/>
          </a:xfrm>
          <a:prstGeom prst="rect">
            <a:avLst/>
          </a:prstGeom>
          <a:noFill/>
          <a:ln/>
        </p:spPr>
        <p:txBody>
          <a:bodyPr wrap="square" lIns="0" tIns="0" rIns="0" bIns="0" rtlCol="0" anchor="ctr"/>
          <a:lstStyle/>
          <a:p>
            <a:pPr indent="0" marL="0">
              <a:buNone/>
            </a:pPr>
            <a:r>
              <a:rPr lang="en-US" sz="1100" dirty="0">
                <a:solidFill>
                  <a:srgbClr val="0A1A33"/>
                </a:solidFill>
                <a:latin typeface="Calibri" pitchFamily="34" charset="0"/>
                <a:ea typeface="Calibri" pitchFamily="34" charset="-122"/>
                <a:cs typeface="Calibri" pitchFamily="34" charset="-120"/>
              </a:rPr>
              <a:t>01-01-1990</a:t>
            </a:r>
            <a:endParaRPr lang="en-US" sz="1100" dirty="0"/>
          </a:p>
        </p:txBody>
      </p:sp>
      <p:sp>
        <p:nvSpPr>
          <p:cNvPr id="31" name="Text 29"/>
          <p:cNvSpPr txBox="1"/>
          <p:nvPr/>
        </p:nvSpPr>
        <p:spPr>
          <a:xfrm>
            <a:off x="6492240" y="3008376"/>
            <a:ext cx="2011680" cy="201168"/>
          </a:xfrm>
          <a:prstGeom prst="rect">
            <a:avLst/>
          </a:prstGeom>
          <a:noFill/>
          <a:ln/>
        </p:spPr>
        <p:txBody>
          <a:bodyPr wrap="square" lIns="0" tIns="0" rIns="0" bIns="0" rtlCol="0" anchor="ctr"/>
          <a:lstStyle/>
          <a:p>
            <a:pPr indent="0" marL="0">
              <a:buNone/>
            </a:pPr>
            <a:r>
              <a:rPr lang="en-US" sz="900" dirty="0">
                <a:solidFill>
                  <a:srgbClr val="5B6577"/>
                </a:solidFill>
                <a:latin typeface="Calibri" pitchFamily="34" charset="0"/>
                <a:ea typeface="Calibri" pitchFamily="34" charset="-122"/>
                <a:cs typeface="Calibri" pitchFamily="34" charset="-120"/>
              </a:rPr>
              <a:t>ID number</a:t>
            </a:r>
            <a:endParaRPr lang="en-US" sz="900" dirty="0"/>
          </a:p>
        </p:txBody>
      </p:sp>
      <p:sp>
        <p:nvSpPr>
          <p:cNvPr id="32" name="Shape 30"/>
          <p:cNvSpPr/>
          <p:nvPr/>
        </p:nvSpPr>
        <p:spPr>
          <a:xfrm>
            <a:off x="6492240" y="3227832"/>
            <a:ext cx="2011680" cy="274320"/>
          </a:xfrm>
          <a:prstGeom prst="roundRect">
            <a:avLst>
              <a:gd name="adj" fmla="val 16667"/>
            </a:avLst>
          </a:prstGeom>
          <a:solidFill>
            <a:srgbClr val="FFFFFF"/>
          </a:solidFill>
          <a:ln w="12700">
            <a:solidFill>
              <a:srgbClr val="E8452C"/>
            </a:solidFill>
            <a:prstDash val="solid"/>
          </a:ln>
        </p:spPr>
      </p:sp>
      <p:sp>
        <p:nvSpPr>
          <p:cNvPr id="33" name="Text 31"/>
          <p:cNvSpPr txBox="1"/>
          <p:nvPr/>
        </p:nvSpPr>
        <p:spPr>
          <a:xfrm>
            <a:off x="6565392" y="3227832"/>
            <a:ext cx="1874520" cy="274320"/>
          </a:xfrm>
          <a:prstGeom prst="rect">
            <a:avLst/>
          </a:prstGeom>
          <a:noFill/>
          <a:ln/>
        </p:spPr>
        <p:txBody>
          <a:bodyPr wrap="square" lIns="0" tIns="0" rIns="0" bIns="0" rtlCol="0" anchor="ctr"/>
          <a:lstStyle/>
          <a:p>
            <a:pPr indent="0" marL="0">
              <a:buNone/>
            </a:pPr>
            <a:r>
              <a:rPr lang="en-US" sz="1100" dirty="0">
                <a:solidFill>
                  <a:srgbClr val="0A1A33"/>
                </a:solidFill>
                <a:latin typeface="Calibri" pitchFamily="34" charset="0"/>
                <a:ea typeface="Calibri" pitchFamily="34" charset="-122"/>
                <a:cs typeface="Calibri" pitchFamily="34" charset="-120"/>
              </a:rPr>
              <a:t>XXXX XXXX 1234</a:t>
            </a:r>
            <a:endParaRPr lang="en-US" sz="1100" dirty="0"/>
          </a:p>
        </p:txBody>
      </p:sp>
      <p:sp>
        <p:nvSpPr>
          <p:cNvPr id="34" name="Text 32"/>
          <p:cNvSpPr txBox="1"/>
          <p:nvPr/>
        </p:nvSpPr>
        <p:spPr>
          <a:xfrm>
            <a:off x="6492240" y="3575304"/>
            <a:ext cx="2011680" cy="201168"/>
          </a:xfrm>
          <a:prstGeom prst="rect">
            <a:avLst/>
          </a:prstGeom>
          <a:noFill/>
          <a:ln/>
        </p:spPr>
        <p:txBody>
          <a:bodyPr wrap="square" lIns="0" tIns="0" rIns="0" bIns="0" rtlCol="0" anchor="ctr"/>
          <a:lstStyle/>
          <a:p>
            <a:pPr indent="0" marL="0">
              <a:buNone/>
            </a:pPr>
            <a:r>
              <a:rPr lang="en-US" sz="900" dirty="0">
                <a:solidFill>
                  <a:srgbClr val="5B6577"/>
                </a:solidFill>
                <a:latin typeface="Calibri" pitchFamily="34" charset="0"/>
                <a:ea typeface="Calibri" pitchFamily="34" charset="-122"/>
                <a:cs typeface="Calibri" pitchFamily="34" charset="-120"/>
              </a:rPr>
              <a:t>Language</a:t>
            </a:r>
            <a:endParaRPr lang="en-US" sz="900" dirty="0"/>
          </a:p>
        </p:txBody>
      </p:sp>
      <p:sp>
        <p:nvSpPr>
          <p:cNvPr id="35" name="Shape 33"/>
          <p:cNvSpPr/>
          <p:nvPr/>
        </p:nvSpPr>
        <p:spPr>
          <a:xfrm>
            <a:off x="6492240" y="3794760"/>
            <a:ext cx="2011680" cy="274320"/>
          </a:xfrm>
          <a:prstGeom prst="roundRect">
            <a:avLst>
              <a:gd name="adj" fmla="val 16667"/>
            </a:avLst>
          </a:prstGeom>
          <a:solidFill>
            <a:srgbClr val="FFFFFF"/>
          </a:solidFill>
          <a:ln w="12700">
            <a:solidFill>
              <a:srgbClr val="E8452C"/>
            </a:solidFill>
            <a:prstDash val="solid"/>
          </a:ln>
        </p:spPr>
      </p:sp>
      <p:sp>
        <p:nvSpPr>
          <p:cNvPr id="36" name="Text 34"/>
          <p:cNvSpPr txBox="1"/>
          <p:nvPr/>
        </p:nvSpPr>
        <p:spPr>
          <a:xfrm>
            <a:off x="6565392" y="3794760"/>
            <a:ext cx="1874520" cy="274320"/>
          </a:xfrm>
          <a:prstGeom prst="rect">
            <a:avLst/>
          </a:prstGeom>
          <a:noFill/>
          <a:ln/>
        </p:spPr>
        <p:txBody>
          <a:bodyPr wrap="square" lIns="0" tIns="0" rIns="0" bIns="0" rtlCol="0" anchor="ctr"/>
          <a:lstStyle/>
          <a:p>
            <a:pPr indent="0" marL="0">
              <a:buNone/>
            </a:pPr>
            <a:r>
              <a:rPr lang="en-US" sz="1100" dirty="0">
                <a:solidFill>
                  <a:srgbClr val="0A1A33"/>
                </a:solidFill>
                <a:latin typeface="Calibri" pitchFamily="34" charset="0"/>
                <a:ea typeface="Calibri" pitchFamily="34" charset="-122"/>
                <a:cs typeface="Calibri" pitchFamily="34" charset="-120"/>
              </a:rPr>
              <a:t>Hindi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0A1A33"/>
                </a:solidFill>
                <a:latin typeface="Cambria" pitchFamily="34" charset="0"/>
                <a:ea typeface="Cambria" pitchFamily="34" charset="-122"/>
                <a:cs typeface="Cambria" pitchFamily="34" charset="-120"/>
              </a:rPr>
              <a:t>Designed around three platform constraints</a:t>
            </a:r>
            <a:endParaRPr lang="en-US" sz="3200" dirty="0"/>
          </a:p>
        </p:txBody>
      </p:sp>
      <p:sp>
        <p:nvSpPr>
          <p:cNvPr id="3" name="Shape 1"/>
          <p:cNvSpPr/>
          <p:nvPr/>
        </p:nvSpPr>
        <p:spPr>
          <a:xfrm>
            <a:off x="457200" y="1280160"/>
            <a:ext cx="3566160" cy="960120"/>
          </a:xfrm>
          <a:prstGeom prst="roundRect">
            <a:avLst>
              <a:gd name="adj" fmla="val 9524"/>
            </a:avLst>
          </a:prstGeom>
          <a:solidFill>
            <a:srgbClr val="F4F6FA"/>
          </a:solidFill>
          <a:ln w="12700">
            <a:solidFill>
              <a:srgbClr val="F4F6FA"/>
            </a:solidFill>
            <a:prstDash val="solid"/>
          </a:ln>
        </p:spPr>
      </p:sp>
      <p:sp>
        <p:nvSpPr>
          <p:cNvPr id="4" name="Text 2"/>
          <p:cNvSpPr txBox="1"/>
          <p:nvPr/>
        </p:nvSpPr>
        <p:spPr>
          <a:xfrm>
            <a:off x="640080" y="1280160"/>
            <a:ext cx="324612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Sustained thermals</a:t>
            </a:r>
            <a:endParaRPr lang="en-US" sz="1500" dirty="0"/>
          </a:p>
          <a:p>
            <a:pPr indent="0" marL="0">
              <a:buNone/>
            </a:pPr>
            <a:r>
              <a:rPr lang="en-US" sz="1100" dirty="0">
                <a:solidFill>
                  <a:srgbClr val="5B6577"/>
                </a:solidFill>
                <a:latin typeface="Calibri" pitchFamily="34" charset="0"/>
                <a:ea typeface="Calibri" pitchFamily="34" charset="-122"/>
                <a:cs typeface="Calibri" pitchFamily="34" charset="-120"/>
              </a:rPr>
              <a:t>Thin laptops have limited heat headroom under long CPU loads</a:t>
            </a:r>
            <a:endParaRPr lang="en-US" sz="1500" dirty="0"/>
          </a:p>
        </p:txBody>
      </p:sp>
      <p:sp>
        <p:nvSpPr>
          <p:cNvPr id="5" name="Shape 3"/>
          <p:cNvSpPr/>
          <p:nvPr/>
        </p:nvSpPr>
        <p:spPr>
          <a:xfrm>
            <a:off x="4114800" y="1600200"/>
            <a:ext cx="365760" cy="320040"/>
          </a:xfrm>
          <a:prstGeom prst="rightArrow">
            <a:avLst/>
          </a:prstGeom>
          <a:solidFill>
            <a:srgbClr val="E8452C"/>
          </a:solidFill>
          <a:ln w="12700">
            <a:solidFill>
              <a:srgbClr val="E8452C"/>
            </a:solidFill>
            <a:prstDash val="solid"/>
          </a:ln>
        </p:spPr>
      </p:sp>
      <p:sp>
        <p:nvSpPr>
          <p:cNvPr id="6" name="Shape 4"/>
          <p:cNvSpPr/>
          <p:nvPr/>
        </p:nvSpPr>
        <p:spPr>
          <a:xfrm>
            <a:off x="4572000" y="1280160"/>
            <a:ext cx="4114800" cy="960120"/>
          </a:xfrm>
          <a:prstGeom prst="roundRect">
            <a:avLst>
              <a:gd name="adj" fmla="val 9524"/>
            </a:avLst>
          </a:prstGeom>
          <a:solidFill>
            <a:srgbClr val="0A1A33"/>
          </a:solidFill>
          <a:ln w="12700">
            <a:solidFill>
              <a:srgbClr val="0A1A33"/>
            </a:solidFill>
            <a:prstDash val="solid"/>
          </a:ln>
        </p:spPr>
      </p:sp>
      <p:sp>
        <p:nvSpPr>
          <p:cNvPr id="7" name="Text 5"/>
          <p:cNvSpPr txBox="1"/>
          <p:nvPr/>
        </p:nvSpPr>
        <p:spPr>
          <a:xfrm>
            <a:off x="4754880" y="1280160"/>
            <a:ext cx="3794760" cy="9601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Run OCR and extraction on the NPU with quantized models; the CPU stays near idle</a:t>
            </a:r>
            <a:endParaRPr lang="en-US" sz="1300" dirty="0"/>
          </a:p>
        </p:txBody>
      </p:sp>
      <p:sp>
        <p:nvSpPr>
          <p:cNvPr id="8" name="Shape 6"/>
          <p:cNvSpPr/>
          <p:nvPr/>
        </p:nvSpPr>
        <p:spPr>
          <a:xfrm>
            <a:off x="457200" y="2423160"/>
            <a:ext cx="3566160" cy="960120"/>
          </a:xfrm>
          <a:prstGeom prst="roundRect">
            <a:avLst>
              <a:gd name="adj" fmla="val 9524"/>
            </a:avLst>
          </a:prstGeom>
          <a:solidFill>
            <a:srgbClr val="F4F6FA"/>
          </a:solidFill>
          <a:ln w="12700">
            <a:solidFill>
              <a:srgbClr val="F4F6FA"/>
            </a:solidFill>
            <a:prstDash val="solid"/>
          </a:ln>
        </p:spPr>
      </p:sp>
      <p:sp>
        <p:nvSpPr>
          <p:cNvPr id="9" name="Text 7"/>
          <p:cNvSpPr txBox="1"/>
          <p:nvPr/>
        </p:nvSpPr>
        <p:spPr>
          <a:xfrm>
            <a:off x="640080" y="2423160"/>
            <a:ext cx="324612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x86 emulation overhead</a:t>
            </a:r>
            <a:endParaRPr lang="en-US" sz="1500" dirty="0"/>
          </a:p>
          <a:p>
            <a:pPr indent="0" marL="0">
              <a:buNone/>
            </a:pPr>
            <a:r>
              <a:rPr lang="en-US" sz="1100" dirty="0">
                <a:solidFill>
                  <a:srgbClr val="5B6577"/>
                </a:solidFill>
                <a:latin typeface="Calibri" pitchFamily="34" charset="0"/>
                <a:ea typeface="Calibri" pitchFamily="34" charset="-122"/>
                <a:cs typeface="Calibri" pitchFamily="34" charset="-120"/>
              </a:rPr>
              <a:t>Translated x86/x64 apps pay a latency and battery cost</a:t>
            </a:r>
            <a:endParaRPr lang="en-US" sz="1500" dirty="0"/>
          </a:p>
        </p:txBody>
      </p:sp>
      <p:sp>
        <p:nvSpPr>
          <p:cNvPr id="10" name="Shape 8"/>
          <p:cNvSpPr/>
          <p:nvPr/>
        </p:nvSpPr>
        <p:spPr>
          <a:xfrm>
            <a:off x="4114800" y="2743200"/>
            <a:ext cx="365760" cy="320040"/>
          </a:xfrm>
          <a:prstGeom prst="rightArrow">
            <a:avLst/>
          </a:prstGeom>
          <a:solidFill>
            <a:srgbClr val="E8452C"/>
          </a:solidFill>
          <a:ln w="12700">
            <a:solidFill>
              <a:srgbClr val="E8452C"/>
            </a:solidFill>
            <a:prstDash val="solid"/>
          </a:ln>
        </p:spPr>
      </p:sp>
      <p:sp>
        <p:nvSpPr>
          <p:cNvPr id="11" name="Shape 9"/>
          <p:cNvSpPr/>
          <p:nvPr/>
        </p:nvSpPr>
        <p:spPr>
          <a:xfrm>
            <a:off x="4572000" y="2423160"/>
            <a:ext cx="4114800" cy="960120"/>
          </a:xfrm>
          <a:prstGeom prst="roundRect">
            <a:avLst>
              <a:gd name="adj" fmla="val 9524"/>
            </a:avLst>
          </a:prstGeom>
          <a:solidFill>
            <a:srgbClr val="0A1A33"/>
          </a:solidFill>
          <a:ln w="12700">
            <a:solidFill>
              <a:srgbClr val="0A1A33"/>
            </a:solidFill>
            <a:prstDash val="solid"/>
          </a:ln>
        </p:spPr>
      </p:sp>
      <p:sp>
        <p:nvSpPr>
          <p:cNvPr id="12" name="Text 10"/>
          <p:cNvSpPr txBox="1"/>
          <p:nvPr/>
        </p:nvSpPr>
        <p:spPr>
          <a:xfrm>
            <a:off x="4754880" y="2423160"/>
            <a:ext cx="3794760" cy="9601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Native ARM64 Python and ONNX Runtime with QNN; no emulated dependencies</a:t>
            </a:r>
            <a:endParaRPr lang="en-US" sz="1300" dirty="0"/>
          </a:p>
        </p:txBody>
      </p:sp>
      <p:sp>
        <p:nvSpPr>
          <p:cNvPr id="13" name="Shape 11"/>
          <p:cNvSpPr/>
          <p:nvPr/>
        </p:nvSpPr>
        <p:spPr>
          <a:xfrm>
            <a:off x="457200" y="3566160"/>
            <a:ext cx="3566160" cy="960120"/>
          </a:xfrm>
          <a:prstGeom prst="roundRect">
            <a:avLst>
              <a:gd name="adj" fmla="val 9524"/>
            </a:avLst>
          </a:prstGeom>
          <a:solidFill>
            <a:srgbClr val="F4F6FA"/>
          </a:solidFill>
          <a:ln w="12700">
            <a:solidFill>
              <a:srgbClr val="F4F6FA"/>
            </a:solidFill>
            <a:prstDash val="solid"/>
          </a:ln>
        </p:spPr>
      </p:sp>
      <p:sp>
        <p:nvSpPr>
          <p:cNvPr id="14" name="Text 12"/>
          <p:cNvSpPr txBox="1"/>
          <p:nvPr/>
        </p:nvSpPr>
        <p:spPr>
          <a:xfrm>
            <a:off x="640080" y="3566160"/>
            <a:ext cx="3246120" cy="960120"/>
          </a:xfrm>
          <a:prstGeom prst="rect">
            <a:avLst/>
          </a:prstGeom>
          <a:noFill/>
          <a:ln/>
        </p:spPr>
        <p:txBody>
          <a:bodyPr wrap="square" lIns="0" tIns="0" rIns="0" bIns="0" rtlCol="0" anchor="ctr"/>
          <a:lstStyle/>
          <a:p>
            <a:pPr indent="0" marL="0">
              <a:buNone/>
            </a:pPr>
            <a:r>
              <a:rPr lang="en-US" sz="1500" b="1" dirty="0">
                <a:solidFill>
                  <a:srgbClr val="0A1A33"/>
                </a:solidFill>
                <a:latin typeface="Calibri" pitchFamily="34" charset="0"/>
                <a:ea typeface="Calibri" pitchFamily="34" charset="-122"/>
                <a:cs typeface="Calibri" pitchFamily="34" charset="-120"/>
              </a:rPr>
              <a:t>Peak-power spikes</a:t>
            </a:r>
            <a:endParaRPr lang="en-US" sz="1500" dirty="0"/>
          </a:p>
          <a:p>
            <a:pPr indent="0" marL="0">
              <a:buNone/>
            </a:pPr>
            <a:r>
              <a:rPr lang="en-US" sz="1100" dirty="0">
                <a:solidFill>
                  <a:srgbClr val="5B6577"/>
                </a:solidFill>
                <a:latin typeface="Calibri" pitchFamily="34" charset="0"/>
                <a:ea typeface="Calibri" pitchFamily="34" charset="-122"/>
                <a:cs typeface="Calibri" pitchFamily="34" charset="-120"/>
              </a:rPr>
              <a:t>High-clock CPU bursts drain battery even on short tasks</a:t>
            </a:r>
            <a:endParaRPr lang="en-US" sz="1500" dirty="0"/>
          </a:p>
        </p:txBody>
      </p:sp>
      <p:sp>
        <p:nvSpPr>
          <p:cNvPr id="15" name="Shape 13"/>
          <p:cNvSpPr/>
          <p:nvPr/>
        </p:nvSpPr>
        <p:spPr>
          <a:xfrm>
            <a:off x="4114800" y="3886200"/>
            <a:ext cx="365760" cy="320040"/>
          </a:xfrm>
          <a:prstGeom prst="rightArrow">
            <a:avLst/>
          </a:prstGeom>
          <a:solidFill>
            <a:srgbClr val="E8452C"/>
          </a:solidFill>
          <a:ln w="12700">
            <a:solidFill>
              <a:srgbClr val="E8452C"/>
            </a:solidFill>
            <a:prstDash val="solid"/>
          </a:ln>
        </p:spPr>
      </p:sp>
      <p:sp>
        <p:nvSpPr>
          <p:cNvPr id="16" name="Shape 14"/>
          <p:cNvSpPr/>
          <p:nvPr/>
        </p:nvSpPr>
        <p:spPr>
          <a:xfrm>
            <a:off x="4572000" y="3566160"/>
            <a:ext cx="4114800" cy="960120"/>
          </a:xfrm>
          <a:prstGeom prst="roundRect">
            <a:avLst>
              <a:gd name="adj" fmla="val 9524"/>
            </a:avLst>
          </a:prstGeom>
          <a:solidFill>
            <a:srgbClr val="0A1A33"/>
          </a:solidFill>
          <a:ln w="12700">
            <a:solidFill>
              <a:srgbClr val="0A1A33"/>
            </a:solidFill>
            <a:prstDash val="solid"/>
          </a:ln>
        </p:spPr>
      </p:sp>
      <p:sp>
        <p:nvSpPr>
          <p:cNvPr id="17" name="Text 15"/>
          <p:cNvSpPr txBox="1"/>
          <p:nvPr/>
        </p:nvSpPr>
        <p:spPr>
          <a:xfrm>
            <a:off x="4754880" y="3566160"/>
            <a:ext cx="3794760" cy="9601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Batch pages onto the NPU; keep CPU work to light I/O and the UI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0A1A33"/>
                </a:solidFill>
                <a:latin typeface="Cambria" pitchFamily="34" charset="0"/>
                <a:ea typeface="Cambria" pitchFamily="34" charset="-122"/>
                <a:cs typeface="Cambria" pitchFamily="34" charset="-120"/>
              </a:rPr>
              <a:t>Everything local, inference on the NPU</a:t>
            </a:r>
            <a:endParaRPr lang="en-US" sz="3200" dirty="0"/>
          </a:p>
        </p:txBody>
      </p:sp>
      <p:sp>
        <p:nvSpPr>
          <p:cNvPr id="3" name="Shape 1"/>
          <p:cNvSpPr/>
          <p:nvPr/>
        </p:nvSpPr>
        <p:spPr>
          <a:xfrm>
            <a:off x="457200" y="1280160"/>
            <a:ext cx="1463040" cy="1188720"/>
          </a:xfrm>
          <a:prstGeom prst="roundRect">
            <a:avLst>
              <a:gd name="adj" fmla="val 7692"/>
            </a:avLst>
          </a:prstGeom>
          <a:solidFill>
            <a:srgbClr val="F4F6FA"/>
          </a:solidFill>
          <a:ln w="12700">
            <a:solidFill>
              <a:srgbClr val="F4F6FA"/>
            </a:solidFill>
            <a:prstDash val="solid"/>
          </a:ln>
        </p:spPr>
      </p:sp>
      <p:sp>
        <p:nvSpPr>
          <p:cNvPr id="4" name="Text 2"/>
          <p:cNvSpPr txBox="1"/>
          <p:nvPr/>
        </p:nvSpPr>
        <p:spPr>
          <a:xfrm>
            <a:off x="548640" y="1280160"/>
            <a:ext cx="1280160" cy="1188720"/>
          </a:xfrm>
          <a:prstGeom prst="rect">
            <a:avLst/>
          </a:prstGeom>
          <a:noFill/>
          <a:ln/>
        </p:spPr>
        <p:txBody>
          <a:bodyPr wrap="square" lIns="0" tIns="0" rIns="0" bIns="0" rtlCol="0" anchor="ctr"/>
          <a:lstStyle/>
          <a:p>
            <a:pPr indent="0" marL="0">
              <a:buNone/>
            </a:pPr>
            <a:r>
              <a:rPr lang="en-US" sz="1300" b="1" dirty="0">
                <a:solidFill>
                  <a:srgbClr val="0A1A33"/>
                </a:solidFill>
                <a:latin typeface="Calibri" pitchFamily="34" charset="0"/>
                <a:ea typeface="Calibri" pitchFamily="34" charset="-122"/>
                <a:cs typeface="Calibri" pitchFamily="34" charset="-120"/>
              </a:rPr>
              <a:t>Input</a:t>
            </a:r>
            <a:endParaRPr lang="en-US" sz="1300" dirty="0"/>
          </a:p>
          <a:p>
            <a:pPr indent="0" marL="0">
              <a:buNone/>
            </a:pPr>
            <a:r>
              <a:rPr lang="en-US" sz="1050" dirty="0">
                <a:solidFill>
                  <a:srgbClr val="5B6577"/>
                </a:solidFill>
                <a:latin typeface="Calibri" pitchFamily="34" charset="0"/>
                <a:ea typeface="Calibri" pitchFamily="34" charset="-122"/>
                <a:cs typeface="Calibri" pitchFamily="34" charset="-120"/>
              </a:rPr>
              <a:t>Scan, camera or PDF</a:t>
            </a:r>
            <a:endParaRPr lang="en-US" sz="1300" dirty="0"/>
          </a:p>
        </p:txBody>
      </p:sp>
      <p:sp>
        <p:nvSpPr>
          <p:cNvPr id="5" name="Shape 3"/>
          <p:cNvSpPr/>
          <p:nvPr/>
        </p:nvSpPr>
        <p:spPr>
          <a:xfrm>
            <a:off x="1947672" y="1737360"/>
            <a:ext cx="173736" cy="274320"/>
          </a:xfrm>
          <a:prstGeom prst="rightArrow">
            <a:avLst/>
          </a:prstGeom>
          <a:solidFill>
            <a:srgbClr val="5B6577"/>
          </a:solidFill>
          <a:ln w="12700">
            <a:solidFill>
              <a:srgbClr val="5B6577"/>
            </a:solidFill>
            <a:prstDash val="solid"/>
          </a:ln>
        </p:spPr>
      </p:sp>
      <p:sp>
        <p:nvSpPr>
          <p:cNvPr id="6" name="Shape 4"/>
          <p:cNvSpPr/>
          <p:nvPr/>
        </p:nvSpPr>
        <p:spPr>
          <a:xfrm>
            <a:off x="2148840" y="1280160"/>
            <a:ext cx="1463040" cy="1188720"/>
          </a:xfrm>
          <a:prstGeom prst="roundRect">
            <a:avLst>
              <a:gd name="adj" fmla="val 7692"/>
            </a:avLst>
          </a:prstGeom>
          <a:solidFill>
            <a:srgbClr val="F4F6FA"/>
          </a:solidFill>
          <a:ln w="12700">
            <a:solidFill>
              <a:srgbClr val="F4F6FA"/>
            </a:solidFill>
            <a:prstDash val="solid"/>
          </a:ln>
        </p:spPr>
      </p:sp>
      <p:sp>
        <p:nvSpPr>
          <p:cNvPr id="7" name="Text 5"/>
          <p:cNvSpPr txBox="1"/>
          <p:nvPr/>
        </p:nvSpPr>
        <p:spPr>
          <a:xfrm>
            <a:off x="2240280" y="1280160"/>
            <a:ext cx="1280160" cy="1188720"/>
          </a:xfrm>
          <a:prstGeom prst="rect">
            <a:avLst/>
          </a:prstGeom>
          <a:noFill/>
          <a:ln/>
        </p:spPr>
        <p:txBody>
          <a:bodyPr wrap="square" lIns="0" tIns="0" rIns="0" bIns="0" rtlCol="0" anchor="ctr"/>
          <a:lstStyle/>
          <a:p>
            <a:pPr indent="0" marL="0">
              <a:buNone/>
            </a:pPr>
            <a:r>
              <a:rPr lang="en-US" sz="1300" b="1" dirty="0">
                <a:solidFill>
                  <a:srgbClr val="0A1A33"/>
                </a:solidFill>
                <a:latin typeface="Calibri" pitchFamily="34" charset="0"/>
                <a:ea typeface="Calibri" pitchFamily="34" charset="-122"/>
                <a:cs typeface="Calibri" pitchFamily="34" charset="-120"/>
              </a:rPr>
              <a:t>Preprocess</a:t>
            </a:r>
            <a:endParaRPr lang="en-US" sz="1300" dirty="0"/>
          </a:p>
          <a:p>
            <a:pPr indent="0" marL="0">
              <a:buNone/>
            </a:pPr>
            <a:r>
              <a:rPr lang="en-US" sz="1050" dirty="0">
                <a:solidFill>
                  <a:srgbClr val="5B6577"/>
                </a:solidFill>
                <a:latin typeface="Calibri" pitchFamily="34" charset="0"/>
                <a:ea typeface="Calibri" pitchFamily="34" charset="-122"/>
                <a:cs typeface="Calibri" pitchFamily="34" charset="-120"/>
              </a:rPr>
              <a:t>Deskew and denoise (OpenCV)</a:t>
            </a:r>
            <a:endParaRPr lang="en-US" sz="1300" dirty="0"/>
          </a:p>
        </p:txBody>
      </p:sp>
      <p:sp>
        <p:nvSpPr>
          <p:cNvPr id="8" name="Shape 6"/>
          <p:cNvSpPr/>
          <p:nvPr/>
        </p:nvSpPr>
        <p:spPr>
          <a:xfrm>
            <a:off x="3639312" y="1737360"/>
            <a:ext cx="173736" cy="274320"/>
          </a:xfrm>
          <a:prstGeom prst="rightArrow">
            <a:avLst/>
          </a:prstGeom>
          <a:solidFill>
            <a:srgbClr val="5B6577"/>
          </a:solidFill>
          <a:ln w="12700">
            <a:solidFill>
              <a:srgbClr val="5B6577"/>
            </a:solidFill>
            <a:prstDash val="solid"/>
          </a:ln>
        </p:spPr>
      </p:sp>
      <p:sp>
        <p:nvSpPr>
          <p:cNvPr id="9" name="Shape 7"/>
          <p:cNvSpPr/>
          <p:nvPr/>
        </p:nvSpPr>
        <p:spPr>
          <a:xfrm>
            <a:off x="3840480" y="1280160"/>
            <a:ext cx="1463040" cy="1188720"/>
          </a:xfrm>
          <a:prstGeom prst="roundRect">
            <a:avLst>
              <a:gd name="adj" fmla="val 7692"/>
            </a:avLst>
          </a:prstGeom>
          <a:solidFill>
            <a:srgbClr val="E8452C"/>
          </a:solidFill>
          <a:ln w="12700">
            <a:solidFill>
              <a:srgbClr val="E8452C"/>
            </a:solidFill>
            <a:prstDash val="solid"/>
          </a:ln>
        </p:spPr>
      </p:sp>
      <p:sp>
        <p:nvSpPr>
          <p:cNvPr id="10" name="Text 8"/>
          <p:cNvSpPr txBox="1"/>
          <p:nvPr/>
        </p:nvSpPr>
        <p:spPr>
          <a:xfrm>
            <a:off x="3931920" y="1280160"/>
            <a:ext cx="1280160" cy="11887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NPU inference</a:t>
            </a:r>
            <a:endParaRPr lang="en-US" sz="1300" dirty="0"/>
          </a:p>
          <a:p>
            <a:pPr indent="0" marL="0">
              <a:buNone/>
            </a:pPr>
            <a:r>
              <a:rPr lang="en-US" sz="1050" dirty="0">
                <a:solidFill>
                  <a:srgbClr val="FFFFFF"/>
                </a:solidFill>
                <a:latin typeface="Calibri" pitchFamily="34" charset="0"/>
                <a:ea typeface="Calibri" pitchFamily="34" charset="-122"/>
                <a:cs typeface="Calibri" pitchFamily="34" charset="-120"/>
              </a:rPr>
              <a:t>OCR and field extraction (ONNX Runtime, QNN)</a:t>
            </a:r>
            <a:endParaRPr lang="en-US" sz="1300" dirty="0"/>
          </a:p>
        </p:txBody>
      </p:sp>
      <p:sp>
        <p:nvSpPr>
          <p:cNvPr id="11" name="Shape 9"/>
          <p:cNvSpPr/>
          <p:nvPr/>
        </p:nvSpPr>
        <p:spPr>
          <a:xfrm>
            <a:off x="5330952" y="1737360"/>
            <a:ext cx="173736" cy="274320"/>
          </a:xfrm>
          <a:prstGeom prst="rightArrow">
            <a:avLst/>
          </a:prstGeom>
          <a:solidFill>
            <a:srgbClr val="5B6577"/>
          </a:solidFill>
          <a:ln w="12700">
            <a:solidFill>
              <a:srgbClr val="5B6577"/>
            </a:solidFill>
            <a:prstDash val="solid"/>
          </a:ln>
        </p:spPr>
      </p:sp>
      <p:sp>
        <p:nvSpPr>
          <p:cNvPr id="12" name="Shape 10"/>
          <p:cNvSpPr/>
          <p:nvPr/>
        </p:nvSpPr>
        <p:spPr>
          <a:xfrm>
            <a:off x="5532120" y="1280160"/>
            <a:ext cx="1463040" cy="1188720"/>
          </a:xfrm>
          <a:prstGeom prst="roundRect">
            <a:avLst>
              <a:gd name="adj" fmla="val 7692"/>
            </a:avLst>
          </a:prstGeom>
          <a:solidFill>
            <a:srgbClr val="F4F6FA"/>
          </a:solidFill>
          <a:ln w="12700">
            <a:solidFill>
              <a:srgbClr val="F4F6FA"/>
            </a:solidFill>
            <a:prstDash val="solid"/>
          </a:ln>
        </p:spPr>
      </p:sp>
      <p:sp>
        <p:nvSpPr>
          <p:cNvPr id="13" name="Text 11"/>
          <p:cNvSpPr txBox="1"/>
          <p:nvPr/>
        </p:nvSpPr>
        <p:spPr>
          <a:xfrm>
            <a:off x="5623560" y="1280160"/>
            <a:ext cx="1280160" cy="1188720"/>
          </a:xfrm>
          <a:prstGeom prst="rect">
            <a:avLst/>
          </a:prstGeom>
          <a:noFill/>
          <a:ln/>
        </p:spPr>
        <p:txBody>
          <a:bodyPr wrap="square" lIns="0" tIns="0" rIns="0" bIns="0" rtlCol="0" anchor="ctr"/>
          <a:lstStyle/>
          <a:p>
            <a:pPr indent="0" marL="0">
              <a:buNone/>
            </a:pPr>
            <a:r>
              <a:rPr lang="en-US" sz="1300" b="1" dirty="0">
                <a:solidFill>
                  <a:srgbClr val="0A1A33"/>
                </a:solidFill>
                <a:latin typeface="Calibri" pitchFamily="34" charset="0"/>
                <a:ea typeface="Calibri" pitchFamily="34" charset="-122"/>
                <a:cs typeface="Calibri" pitchFamily="34" charset="-120"/>
              </a:rPr>
              <a:t>Validate</a:t>
            </a:r>
            <a:endParaRPr lang="en-US" sz="1300" dirty="0"/>
          </a:p>
          <a:p>
            <a:pPr indent="0" marL="0">
              <a:buNone/>
            </a:pPr>
            <a:r>
              <a:rPr lang="en-US" sz="1050" dirty="0">
                <a:solidFill>
                  <a:srgbClr val="5B6577"/>
                </a:solidFill>
                <a:latin typeface="Calibri" pitchFamily="34" charset="0"/>
                <a:ea typeface="Calibri" pitchFamily="34" charset="-122"/>
                <a:cs typeface="Calibri" pitchFamily="34" charset="-120"/>
              </a:rPr>
              <a:t>ID formats and confidence checks</a:t>
            </a:r>
            <a:endParaRPr lang="en-US" sz="1300" dirty="0"/>
          </a:p>
        </p:txBody>
      </p:sp>
      <p:sp>
        <p:nvSpPr>
          <p:cNvPr id="14" name="Shape 12"/>
          <p:cNvSpPr/>
          <p:nvPr/>
        </p:nvSpPr>
        <p:spPr>
          <a:xfrm>
            <a:off x="7022592" y="1737360"/>
            <a:ext cx="173736" cy="274320"/>
          </a:xfrm>
          <a:prstGeom prst="rightArrow">
            <a:avLst/>
          </a:prstGeom>
          <a:solidFill>
            <a:srgbClr val="5B6577"/>
          </a:solidFill>
          <a:ln w="12700">
            <a:solidFill>
              <a:srgbClr val="5B6577"/>
            </a:solidFill>
            <a:prstDash val="solid"/>
          </a:ln>
        </p:spPr>
      </p:sp>
      <p:sp>
        <p:nvSpPr>
          <p:cNvPr id="15" name="Shape 13"/>
          <p:cNvSpPr/>
          <p:nvPr/>
        </p:nvSpPr>
        <p:spPr>
          <a:xfrm>
            <a:off x="7223760" y="1280160"/>
            <a:ext cx="1463040" cy="1188720"/>
          </a:xfrm>
          <a:prstGeom prst="roundRect">
            <a:avLst>
              <a:gd name="adj" fmla="val 7692"/>
            </a:avLst>
          </a:prstGeom>
          <a:solidFill>
            <a:srgbClr val="F4F6FA"/>
          </a:solidFill>
          <a:ln w="12700">
            <a:solidFill>
              <a:srgbClr val="F4F6FA"/>
            </a:solidFill>
            <a:prstDash val="solid"/>
          </a:ln>
        </p:spPr>
      </p:sp>
      <p:sp>
        <p:nvSpPr>
          <p:cNvPr id="16" name="Text 14"/>
          <p:cNvSpPr txBox="1"/>
          <p:nvPr/>
        </p:nvSpPr>
        <p:spPr>
          <a:xfrm>
            <a:off x="7315200" y="1280160"/>
            <a:ext cx="1280160" cy="1188720"/>
          </a:xfrm>
          <a:prstGeom prst="rect">
            <a:avLst/>
          </a:prstGeom>
          <a:noFill/>
          <a:ln/>
        </p:spPr>
        <p:txBody>
          <a:bodyPr wrap="square" lIns="0" tIns="0" rIns="0" bIns="0" rtlCol="0" anchor="ctr"/>
          <a:lstStyle/>
          <a:p>
            <a:pPr indent="0" marL="0">
              <a:buNone/>
            </a:pPr>
            <a:r>
              <a:rPr lang="en-US" sz="1300" b="1" dirty="0">
                <a:solidFill>
                  <a:srgbClr val="0A1A33"/>
                </a:solidFill>
                <a:latin typeface="Calibri" pitchFamily="34" charset="0"/>
                <a:ea typeface="Calibri" pitchFamily="34" charset="-122"/>
                <a:cs typeface="Calibri" pitchFamily="34" charset="-120"/>
              </a:rPr>
              <a:t>Autofill</a:t>
            </a:r>
            <a:endParaRPr lang="en-US" sz="1300" dirty="0"/>
          </a:p>
          <a:p>
            <a:pPr indent="0" marL="0">
              <a:buNone/>
            </a:pPr>
            <a:r>
              <a:rPr lang="en-US" sz="1050" dirty="0">
                <a:solidFill>
                  <a:srgbClr val="5B6577"/>
                </a:solidFill>
                <a:latin typeface="Calibri" pitchFamily="34" charset="0"/>
                <a:ea typeface="Calibri" pitchFamily="34" charset="-122"/>
                <a:cs typeface="Calibri" pitchFamily="34" charset="-120"/>
              </a:rPr>
              <a:t>JSON, PDF and form templates</a:t>
            </a:r>
            <a:endParaRPr lang="en-US" sz="1300" dirty="0"/>
          </a:p>
        </p:txBody>
      </p:sp>
      <p:sp>
        <p:nvSpPr>
          <p:cNvPr id="17" name="Text 15"/>
          <p:cNvSpPr txBox="1"/>
          <p:nvPr/>
        </p:nvSpPr>
        <p:spPr>
          <a:xfrm>
            <a:off x="457200" y="2743200"/>
            <a:ext cx="4572000" cy="274320"/>
          </a:xfrm>
          <a:prstGeom prst="rect">
            <a:avLst/>
          </a:prstGeom>
          <a:noFill/>
          <a:ln/>
        </p:spPr>
        <p:txBody>
          <a:bodyPr wrap="square" lIns="0" tIns="0" rIns="0" bIns="0" rtlCol="0" anchor="ctr"/>
          <a:lstStyle/>
          <a:p>
            <a:pPr indent="0" marL="0">
              <a:buNone/>
            </a:pPr>
            <a:r>
              <a:rPr lang="en-US" sz="1100" b="1" dirty="0">
                <a:solidFill>
                  <a:srgbClr val="5B6577"/>
                </a:solidFill>
                <a:latin typeface="Calibri" pitchFamily="34" charset="0"/>
                <a:ea typeface="Calibri" pitchFamily="34" charset="-122"/>
                <a:cs typeface="Calibri" pitchFamily="34" charset="-120"/>
              </a:rPr>
              <a:t>Snapdragon® X-series PC</a:t>
            </a:r>
            <a:endParaRPr lang="en-US" sz="1100" dirty="0"/>
          </a:p>
        </p:txBody>
      </p:sp>
      <p:sp>
        <p:nvSpPr>
          <p:cNvPr id="18" name="Shape 16"/>
          <p:cNvSpPr/>
          <p:nvPr/>
        </p:nvSpPr>
        <p:spPr>
          <a:xfrm>
            <a:off x="457200" y="3063240"/>
            <a:ext cx="2651760" cy="777240"/>
          </a:xfrm>
          <a:prstGeom prst="roundRect">
            <a:avLst>
              <a:gd name="adj" fmla="val 11765"/>
            </a:avLst>
          </a:prstGeom>
          <a:solidFill>
            <a:srgbClr val="F4F6FA"/>
          </a:solidFill>
          <a:ln w="12700">
            <a:solidFill>
              <a:srgbClr val="F4F6FA"/>
            </a:solidFill>
            <a:prstDash val="solid"/>
          </a:ln>
        </p:spPr>
      </p:sp>
      <p:sp>
        <p:nvSpPr>
          <p:cNvPr id="19" name="Text 17"/>
          <p:cNvSpPr txBox="1"/>
          <p:nvPr/>
        </p:nvSpPr>
        <p:spPr>
          <a:xfrm>
            <a:off x="640080" y="3063240"/>
            <a:ext cx="2286000" cy="777240"/>
          </a:xfrm>
          <a:prstGeom prst="rect">
            <a:avLst/>
          </a:prstGeom>
          <a:noFill/>
          <a:ln/>
        </p:spPr>
        <p:txBody>
          <a:bodyPr wrap="square" lIns="0" tIns="0" rIns="0" bIns="0" rtlCol="0" anchor="ctr"/>
          <a:lstStyle/>
          <a:p>
            <a:pPr indent="0" marL="0">
              <a:buNone/>
            </a:pPr>
            <a:r>
              <a:rPr lang="en-US" sz="1400" b="1" dirty="0">
                <a:solidFill>
                  <a:srgbClr val="0A1A33"/>
                </a:solidFill>
                <a:latin typeface="Calibri" pitchFamily="34" charset="0"/>
                <a:ea typeface="Calibri" pitchFamily="34" charset="-122"/>
                <a:cs typeface="Calibri" pitchFamily="34" charset="-120"/>
              </a:rPr>
              <a:t>Oryon CPU</a:t>
            </a:r>
            <a:endParaRPr lang="en-US" sz="1400" dirty="0"/>
          </a:p>
          <a:p>
            <a:pPr indent="0" marL="0">
              <a:buNone/>
            </a:pPr>
            <a:r>
              <a:rPr lang="en-US" sz="1100" dirty="0">
                <a:solidFill>
                  <a:srgbClr val="5B6577"/>
                </a:solidFill>
                <a:latin typeface="Calibri" pitchFamily="34" charset="0"/>
                <a:ea typeface="Calibri" pitchFamily="34" charset="-122"/>
                <a:cs typeface="Calibri" pitchFamily="34" charset="-120"/>
              </a:rPr>
              <a:t>UI and file I/O</a:t>
            </a:r>
            <a:endParaRPr lang="en-US" sz="1400" dirty="0"/>
          </a:p>
        </p:txBody>
      </p:sp>
      <p:sp>
        <p:nvSpPr>
          <p:cNvPr id="20" name="Shape 18"/>
          <p:cNvSpPr/>
          <p:nvPr/>
        </p:nvSpPr>
        <p:spPr>
          <a:xfrm>
            <a:off x="3246120" y="3063240"/>
            <a:ext cx="2651760" cy="777240"/>
          </a:xfrm>
          <a:prstGeom prst="roundRect">
            <a:avLst>
              <a:gd name="adj" fmla="val 11765"/>
            </a:avLst>
          </a:prstGeom>
          <a:solidFill>
            <a:srgbClr val="F4F6FA"/>
          </a:solidFill>
          <a:ln w="12700">
            <a:solidFill>
              <a:srgbClr val="F4F6FA"/>
            </a:solidFill>
            <a:prstDash val="solid"/>
          </a:ln>
        </p:spPr>
      </p:sp>
      <p:sp>
        <p:nvSpPr>
          <p:cNvPr id="21" name="Text 19"/>
          <p:cNvSpPr txBox="1"/>
          <p:nvPr/>
        </p:nvSpPr>
        <p:spPr>
          <a:xfrm>
            <a:off x="3429000" y="3063240"/>
            <a:ext cx="2286000" cy="777240"/>
          </a:xfrm>
          <a:prstGeom prst="rect">
            <a:avLst/>
          </a:prstGeom>
          <a:noFill/>
          <a:ln/>
        </p:spPr>
        <p:txBody>
          <a:bodyPr wrap="square" lIns="0" tIns="0" rIns="0" bIns="0" rtlCol="0" anchor="ctr"/>
          <a:lstStyle/>
          <a:p>
            <a:pPr indent="0" marL="0">
              <a:buNone/>
            </a:pPr>
            <a:r>
              <a:rPr lang="en-US" sz="1400" b="1" dirty="0">
                <a:solidFill>
                  <a:srgbClr val="0A1A33"/>
                </a:solidFill>
                <a:latin typeface="Calibri" pitchFamily="34" charset="0"/>
                <a:ea typeface="Calibri" pitchFamily="34" charset="-122"/>
                <a:cs typeface="Calibri" pitchFamily="34" charset="-120"/>
              </a:rPr>
              <a:t>Adreno GPU</a:t>
            </a:r>
            <a:endParaRPr lang="en-US" sz="1400" dirty="0"/>
          </a:p>
          <a:p>
            <a:pPr indent="0" marL="0">
              <a:buNone/>
            </a:pPr>
            <a:r>
              <a:rPr lang="en-US" sz="1100" dirty="0">
                <a:solidFill>
                  <a:srgbClr val="5B6577"/>
                </a:solidFill>
                <a:latin typeface="Calibri" pitchFamily="34" charset="0"/>
                <a:ea typeface="Calibri" pitchFamily="34" charset="-122"/>
                <a:cs typeface="Calibri" pitchFamily="34" charset="-120"/>
              </a:rPr>
              <a:t>Free for other apps</a:t>
            </a:r>
            <a:endParaRPr lang="en-US" sz="1400" dirty="0"/>
          </a:p>
        </p:txBody>
      </p:sp>
      <p:sp>
        <p:nvSpPr>
          <p:cNvPr id="22" name="Shape 20"/>
          <p:cNvSpPr/>
          <p:nvPr/>
        </p:nvSpPr>
        <p:spPr>
          <a:xfrm>
            <a:off x="6035040" y="3063240"/>
            <a:ext cx="2651760" cy="777240"/>
          </a:xfrm>
          <a:prstGeom prst="roundRect">
            <a:avLst>
              <a:gd name="adj" fmla="val 11765"/>
            </a:avLst>
          </a:prstGeom>
          <a:solidFill>
            <a:srgbClr val="0A1A33"/>
          </a:solidFill>
          <a:ln w="12700">
            <a:solidFill>
              <a:srgbClr val="0A1A33"/>
            </a:solidFill>
            <a:prstDash val="solid"/>
          </a:ln>
        </p:spPr>
      </p:sp>
      <p:sp>
        <p:nvSpPr>
          <p:cNvPr id="23" name="Text 21"/>
          <p:cNvSpPr txBox="1"/>
          <p:nvPr/>
        </p:nvSpPr>
        <p:spPr>
          <a:xfrm>
            <a:off x="6217920" y="3063240"/>
            <a:ext cx="22860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Hexagon NPU</a:t>
            </a:r>
            <a:endParaRPr lang="en-US" sz="1400" dirty="0"/>
          </a:p>
          <a:p>
            <a:pPr indent="0" marL="0">
              <a:buNone/>
            </a:pPr>
            <a:r>
              <a:rPr lang="en-US" sz="1100" dirty="0">
                <a:solidFill>
                  <a:srgbClr val="CADCFC"/>
                </a:solidFill>
                <a:latin typeface="Calibri" pitchFamily="34" charset="0"/>
                <a:ea typeface="Calibri" pitchFamily="34" charset="-122"/>
                <a:cs typeface="Calibri" pitchFamily="34" charset="-120"/>
              </a:rPr>
              <a:t>All model inference</a:t>
            </a:r>
            <a:endParaRPr lang="en-US" sz="1400" dirty="0"/>
          </a:p>
        </p:txBody>
      </p:sp>
      <p:sp>
        <p:nvSpPr>
          <p:cNvPr id="24" name="Text 22"/>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i="1" dirty="0">
                <a:solidFill>
                  <a:srgbClr val="0A1A33"/>
                </a:solidFill>
                <a:latin typeface="Calibri" pitchFamily="34" charset="0"/>
                <a:ea typeface="Calibri" pitchFamily="34" charset="-122"/>
                <a:cs typeface="Calibri" pitchFamily="34" charset="-120"/>
              </a:rPr>
              <a:t>Local encrypted storage  ·  No network calls  ·  Native ARM64 build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0A1A33"/>
                </a:solidFill>
                <a:latin typeface="Cambria" pitchFamily="34" charset="0"/>
                <a:ea typeface="Cambria" pitchFamily="34" charset="-122"/>
                <a:cs typeface="Cambria" pitchFamily="34" charset="-120"/>
              </a:rPr>
              <a:t>Performance targets and validation plan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651760"/>
                <a:gridCol w="1828800"/>
                <a:gridCol w="1463040"/>
                <a:gridCol w="22860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 target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A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will be measured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A1A33"/>
                    </a:solidFill>
                  </a:tcPr>
                </a:tc>
              </a:tr>
              <a:tr h="457200">
                <a:tc>
                  <a:txBody>
                    <a:bodyPr/>
                    <a:lstStyle/>
                    <a:p>
                      <a:pPr indent="0" marL="0">
                        <a:buNone/>
                      </a:pPr>
                      <a:r>
                        <a:rPr lang="en-US" sz="1200" b="1" dirty="0">
                          <a:solidFill>
                            <a:srgbClr val="0A1A33"/>
                          </a:solidFill>
                          <a:latin typeface="Calibri" pitchFamily="34" charset="0"/>
                          <a:ea typeface="Calibri" pitchFamily="34" charset="-122"/>
                          <a:cs typeface="Calibri" pitchFamily="34" charset="-120"/>
                        </a:rPr>
                        <a:t>Latency per page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222B3A"/>
                          </a:solidFill>
                          <a:latin typeface="Calibri" pitchFamily="34" charset="0"/>
                          <a:ea typeface="Calibri" pitchFamily="34" charset="-122"/>
                          <a:cs typeface="Calibri" pitchFamily="34" charset="-120"/>
                        </a:rPr>
                        <a:t>1 s or less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5B6577"/>
                          </a:solidFill>
                          <a:latin typeface="Calibri" pitchFamily="34" charset="0"/>
                          <a:ea typeface="Calibri" pitchFamily="34" charset="-122"/>
                          <a:cs typeface="Calibri" pitchFamily="34" charset="-120"/>
                        </a:rPr>
                        <a:t>To validate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indent="0" marL="0">
                        <a:buNone/>
                      </a:pPr>
                      <a:r>
                        <a:rPr lang="en-US" sz="1100" dirty="0">
                          <a:solidFill>
                            <a:srgbClr val="5B6577"/>
                          </a:solidFill>
                          <a:latin typeface="Calibri" pitchFamily="34" charset="0"/>
                          <a:ea typeface="Calibri" pitchFamily="34" charset="-122"/>
                          <a:cs typeface="Calibri" pitchFamily="34" charset="-120"/>
                        </a:rPr>
                        <a:t>50-page sample, end to end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r>
              <a:tr h="457200">
                <a:tc>
                  <a:txBody>
                    <a:bodyPr/>
                    <a:lstStyle/>
                    <a:p>
                      <a:pPr indent="0" marL="0">
                        <a:buNone/>
                      </a:pPr>
                      <a:r>
                        <a:rPr lang="en-US" sz="1200" b="1" dirty="0">
                          <a:solidFill>
                            <a:srgbClr val="0A1A33"/>
                          </a:solidFill>
                          <a:latin typeface="Calibri" pitchFamily="34" charset="0"/>
                          <a:ea typeface="Calibri" pitchFamily="34" charset="-122"/>
                          <a:cs typeface="Calibri" pitchFamily="34" charset="-120"/>
                        </a:rPr>
                        <a:t>NPU share of inference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222B3A"/>
                          </a:solidFill>
                          <a:latin typeface="Calibri" pitchFamily="34" charset="0"/>
                          <a:ea typeface="Calibri" pitchFamily="34" charset="-122"/>
                          <a:cs typeface="Calibri" pitchFamily="34" charset="-120"/>
                        </a:rPr>
                        <a:t>90% or more of ops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5B6577"/>
                          </a:solidFill>
                          <a:latin typeface="Calibri" pitchFamily="34" charset="0"/>
                          <a:ea typeface="Calibri" pitchFamily="34" charset="-122"/>
                          <a:cs typeface="Calibri" pitchFamily="34" charset="-120"/>
                        </a:rPr>
                        <a:t>To validate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5B6577"/>
                          </a:solidFill>
                          <a:latin typeface="Calibri" pitchFamily="34" charset="0"/>
                          <a:ea typeface="Calibri" pitchFamily="34" charset="-122"/>
                          <a:cs typeface="Calibri" pitchFamily="34" charset="-120"/>
                        </a:rPr>
                        <a:t>QNN execution provider profile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200" b="1" dirty="0">
                          <a:solidFill>
                            <a:srgbClr val="0A1A33"/>
                          </a:solidFill>
                          <a:latin typeface="Calibri" pitchFamily="34" charset="0"/>
                          <a:ea typeface="Calibri" pitchFamily="34" charset="-122"/>
                          <a:cs typeface="Calibri" pitchFamily="34" charset="-120"/>
                        </a:rPr>
                        <a:t>CPU load during inference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222B3A"/>
                          </a:solidFill>
                          <a:latin typeface="Calibri" pitchFamily="34" charset="0"/>
                          <a:ea typeface="Calibri" pitchFamily="34" charset="-122"/>
                          <a:cs typeface="Calibri" pitchFamily="34" charset="-120"/>
                        </a:rPr>
                        <a:t>Under 15%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5B6577"/>
                          </a:solidFill>
                          <a:latin typeface="Calibri" pitchFamily="34" charset="0"/>
                          <a:ea typeface="Calibri" pitchFamily="34" charset="-122"/>
                          <a:cs typeface="Calibri" pitchFamily="34" charset="-120"/>
                        </a:rPr>
                        <a:t>To validate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indent="0" marL="0">
                        <a:buNone/>
                      </a:pPr>
                      <a:r>
                        <a:rPr lang="en-US" sz="1100" dirty="0">
                          <a:solidFill>
                            <a:srgbClr val="5B6577"/>
                          </a:solidFill>
                          <a:latin typeface="Calibri" pitchFamily="34" charset="0"/>
                          <a:ea typeface="Calibri" pitchFamily="34" charset="-122"/>
                          <a:cs typeface="Calibri" pitchFamily="34" charset="-120"/>
                        </a:rPr>
                        <a:t>Windows performance counters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r>
              <a:tr h="457200">
                <a:tc>
                  <a:txBody>
                    <a:bodyPr/>
                    <a:lstStyle/>
                    <a:p>
                      <a:pPr indent="0" marL="0">
                        <a:buNone/>
                      </a:pPr>
                      <a:r>
                        <a:rPr lang="en-US" sz="1200" b="1" dirty="0">
                          <a:solidFill>
                            <a:srgbClr val="0A1A33"/>
                          </a:solidFill>
                          <a:latin typeface="Calibri" pitchFamily="34" charset="0"/>
                          <a:ea typeface="Calibri" pitchFamily="34" charset="-122"/>
                          <a:cs typeface="Calibri" pitchFamily="34" charset="-120"/>
                        </a:rPr>
                        <a:t>Throttling over 10 min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222B3A"/>
                          </a:solidFill>
                          <a:latin typeface="Calibri" pitchFamily="34" charset="0"/>
                          <a:ea typeface="Calibri" pitchFamily="34" charset="-122"/>
                          <a:cs typeface="Calibri" pitchFamily="34" charset="-120"/>
                        </a:rPr>
                        <a:t>None expected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5B6577"/>
                          </a:solidFill>
                          <a:latin typeface="Calibri" pitchFamily="34" charset="0"/>
                          <a:ea typeface="Calibri" pitchFamily="34" charset="-122"/>
                          <a:cs typeface="Calibri" pitchFamily="34" charset="-120"/>
                        </a:rPr>
                        <a:t>To validate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5B6577"/>
                          </a:solidFill>
                          <a:latin typeface="Calibri" pitchFamily="34" charset="0"/>
                          <a:ea typeface="Calibri" pitchFamily="34" charset="-122"/>
                          <a:cs typeface="Calibri" pitchFamily="34" charset="-120"/>
                        </a:rPr>
                        <a:t>Continuous run, clock trace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200" b="1" dirty="0">
                          <a:solidFill>
                            <a:srgbClr val="0A1A33"/>
                          </a:solidFill>
                          <a:latin typeface="Calibri" pitchFamily="34" charset="0"/>
                          <a:ea typeface="Calibri" pitchFamily="34" charset="-122"/>
                          <a:cs typeface="Calibri" pitchFamily="34" charset="-120"/>
                        </a:rPr>
                        <a:t>OCR character error rate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222B3A"/>
                          </a:solidFill>
                          <a:latin typeface="Calibri" pitchFamily="34" charset="0"/>
                          <a:ea typeface="Calibri" pitchFamily="34" charset="-122"/>
                          <a:cs typeface="Calibri" pitchFamily="34" charset="-120"/>
                        </a:rPr>
                        <a:t>5% or less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algn="ctr" indent="0" marL="0">
                        <a:buNone/>
                      </a:pPr>
                      <a:r>
                        <a:rPr lang="en-US" sz="1200" dirty="0">
                          <a:solidFill>
                            <a:srgbClr val="5B6577"/>
                          </a:solidFill>
                          <a:latin typeface="Calibri" pitchFamily="34" charset="0"/>
                          <a:ea typeface="Calibri" pitchFamily="34" charset="-122"/>
                          <a:cs typeface="Calibri" pitchFamily="34" charset="-120"/>
                        </a:rPr>
                        <a:t>To validate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c>
                  <a:txBody>
                    <a:bodyPr/>
                    <a:lstStyle/>
                    <a:p>
                      <a:pPr indent="0" marL="0">
                        <a:buNone/>
                      </a:pPr>
                      <a:r>
                        <a:rPr lang="en-US" sz="1100" dirty="0">
                          <a:solidFill>
                            <a:srgbClr val="5B6577"/>
                          </a:solidFill>
                          <a:latin typeface="Calibri" pitchFamily="34" charset="0"/>
                          <a:ea typeface="Calibri" pitchFamily="34" charset="-122"/>
                          <a:cs typeface="Calibri" pitchFamily="34" charset="-120"/>
                        </a:rPr>
                        <a:t>Test set of ID scans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4F6FA"/>
                    </a:solidFill>
                  </a:tcPr>
                </a:tc>
              </a:tr>
            </a:tbl>
          </a:graphicData>
        </a:graphic>
      </p:graphicFrame>
      <p:sp>
        <p:nvSpPr>
          <p:cNvPr id="4" name="Text 1"/>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200" i="1" dirty="0">
                <a:solidFill>
                  <a:srgbClr val="5B6577"/>
                </a:solidFill>
                <a:latin typeface="Calibri" pitchFamily="34" charset="0"/>
                <a:ea typeface="Calibri" pitchFamily="34" charset="-122"/>
                <a:cs typeface="Calibri" pitchFamily="34" charset="-120"/>
              </a:rPr>
              <a:t>These are design targets, not measured results. Validation will use Qualcomm AI Hub profiling and on-device runs.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it matters</a:t>
            </a:r>
            <a:endParaRPr lang="en-US" sz="3200" dirty="0"/>
          </a:p>
        </p:txBody>
      </p:sp>
      <p:sp>
        <p:nvSpPr>
          <p:cNvPr id="3" name="Shape 1"/>
          <p:cNvSpPr/>
          <p:nvPr/>
        </p:nvSpPr>
        <p:spPr>
          <a:xfrm>
            <a:off x="457200" y="1280160"/>
            <a:ext cx="4023360" cy="1097280"/>
          </a:xfrm>
          <a:prstGeom prst="roundRect">
            <a:avLst>
              <a:gd name="adj" fmla="val 8333"/>
            </a:avLst>
          </a:prstGeom>
          <a:solidFill>
            <a:srgbClr val="14305A"/>
          </a:solidFill>
          <a:ln w="12700">
            <a:solidFill>
              <a:srgbClr val="14305A"/>
            </a:solidFill>
            <a:prstDash val="solid"/>
          </a:ln>
        </p:spPr>
      </p:sp>
      <p:sp>
        <p:nvSpPr>
          <p:cNvPr id="4" name="Text 2"/>
          <p:cNvSpPr txBox="1"/>
          <p:nvPr/>
        </p:nvSpPr>
        <p:spPr>
          <a:xfrm>
            <a:off x="685800" y="1280160"/>
            <a:ext cx="3566160" cy="10972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Private by design</a:t>
            </a:r>
            <a:endParaRPr lang="en-US" sz="1700" dirty="0"/>
          </a:p>
          <a:p>
            <a:pPr indent="0" marL="0">
              <a:buNone/>
            </a:pPr>
            <a:r>
              <a:rPr lang="en-US" sz="1300" dirty="0">
                <a:solidFill>
                  <a:srgbClr val="CADCFC"/>
                </a:solidFill>
                <a:latin typeface="Calibri" pitchFamily="34" charset="0"/>
                <a:ea typeface="Calibri" pitchFamily="34" charset="-122"/>
                <a:cs typeface="Calibri" pitchFamily="34" charset="-120"/>
              </a:rPr>
              <a:t>Citizen documents never leave the laptop</a:t>
            </a:r>
            <a:endParaRPr lang="en-US" sz="1700" dirty="0"/>
          </a:p>
        </p:txBody>
      </p:sp>
      <p:sp>
        <p:nvSpPr>
          <p:cNvPr id="5" name="Shape 3"/>
          <p:cNvSpPr/>
          <p:nvPr/>
        </p:nvSpPr>
        <p:spPr>
          <a:xfrm>
            <a:off x="4663440" y="1280160"/>
            <a:ext cx="4023360" cy="1097280"/>
          </a:xfrm>
          <a:prstGeom prst="roundRect">
            <a:avLst>
              <a:gd name="adj" fmla="val 8333"/>
            </a:avLst>
          </a:prstGeom>
          <a:solidFill>
            <a:srgbClr val="14305A"/>
          </a:solidFill>
          <a:ln w="12700">
            <a:solidFill>
              <a:srgbClr val="14305A"/>
            </a:solidFill>
            <a:prstDash val="solid"/>
          </a:ln>
        </p:spPr>
      </p:sp>
      <p:sp>
        <p:nvSpPr>
          <p:cNvPr id="6" name="Text 4"/>
          <p:cNvSpPr txBox="1"/>
          <p:nvPr/>
        </p:nvSpPr>
        <p:spPr>
          <a:xfrm>
            <a:off x="4892040" y="1280160"/>
            <a:ext cx="3566160" cy="10972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Made for Indian users</a:t>
            </a:r>
            <a:endParaRPr lang="en-US" sz="1700" dirty="0"/>
          </a:p>
          <a:p>
            <a:pPr indent="0" marL="0">
              <a:buNone/>
            </a:pPr>
            <a:r>
              <a:rPr lang="en-US" sz="1300" dirty="0">
                <a:solidFill>
                  <a:srgbClr val="CADCFC"/>
                </a:solidFill>
                <a:latin typeface="Calibri" pitchFamily="34" charset="0"/>
                <a:ea typeface="Calibri" pitchFamily="34" charset="-122"/>
                <a:cs typeface="Calibri" pitchFamily="34" charset="-120"/>
              </a:rPr>
              <a:t>English, Hindi, Urdu and Telugu</a:t>
            </a:r>
            <a:endParaRPr lang="en-US" sz="1700" dirty="0"/>
          </a:p>
        </p:txBody>
      </p:sp>
      <p:sp>
        <p:nvSpPr>
          <p:cNvPr id="7" name="Shape 5"/>
          <p:cNvSpPr/>
          <p:nvPr/>
        </p:nvSpPr>
        <p:spPr>
          <a:xfrm>
            <a:off x="457200" y="2560320"/>
            <a:ext cx="4023360" cy="1097280"/>
          </a:xfrm>
          <a:prstGeom prst="roundRect">
            <a:avLst>
              <a:gd name="adj" fmla="val 8333"/>
            </a:avLst>
          </a:prstGeom>
          <a:solidFill>
            <a:srgbClr val="14305A"/>
          </a:solidFill>
          <a:ln w="12700">
            <a:solidFill>
              <a:srgbClr val="14305A"/>
            </a:solidFill>
            <a:prstDash val="solid"/>
          </a:ln>
        </p:spPr>
      </p:sp>
      <p:sp>
        <p:nvSpPr>
          <p:cNvPr id="8" name="Text 6"/>
          <p:cNvSpPr txBox="1"/>
          <p:nvPr/>
        </p:nvSpPr>
        <p:spPr>
          <a:xfrm>
            <a:off x="685800" y="2560320"/>
            <a:ext cx="3566160" cy="10972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Easy to deploy</a:t>
            </a:r>
            <a:endParaRPr lang="en-US" sz="1700" dirty="0"/>
          </a:p>
          <a:p>
            <a:pPr indent="0" marL="0">
              <a:buNone/>
            </a:pPr>
            <a:r>
              <a:rPr lang="en-US" sz="1300" dirty="0">
                <a:solidFill>
                  <a:srgbClr val="CADCFC"/>
                </a:solidFill>
                <a:latin typeface="Calibri" pitchFamily="34" charset="0"/>
                <a:ea typeface="Calibri" pitchFamily="34" charset="-122"/>
                <a:cs typeface="Calibri" pitchFamily="34" charset="-120"/>
              </a:rPr>
              <a:t>One ARM64 install, works without internet</a:t>
            </a:r>
            <a:endParaRPr lang="en-US" sz="1700" dirty="0"/>
          </a:p>
        </p:txBody>
      </p:sp>
      <p:sp>
        <p:nvSpPr>
          <p:cNvPr id="9" name="Shape 7"/>
          <p:cNvSpPr/>
          <p:nvPr/>
        </p:nvSpPr>
        <p:spPr>
          <a:xfrm>
            <a:off x="4663440" y="2560320"/>
            <a:ext cx="4023360" cy="1097280"/>
          </a:xfrm>
          <a:prstGeom prst="roundRect">
            <a:avLst>
              <a:gd name="adj" fmla="val 8333"/>
            </a:avLst>
          </a:prstGeom>
          <a:solidFill>
            <a:srgbClr val="14305A"/>
          </a:solidFill>
          <a:ln w="12700">
            <a:solidFill>
              <a:srgbClr val="14305A"/>
            </a:solidFill>
            <a:prstDash val="solid"/>
          </a:ln>
        </p:spPr>
      </p:sp>
      <p:sp>
        <p:nvSpPr>
          <p:cNvPr id="10" name="Text 8"/>
          <p:cNvSpPr txBox="1"/>
          <p:nvPr/>
        </p:nvSpPr>
        <p:spPr>
          <a:xfrm>
            <a:off x="4892040" y="2560320"/>
            <a:ext cx="3566160" cy="10972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Built to extend</a:t>
            </a:r>
            <a:endParaRPr lang="en-US" sz="1700" dirty="0"/>
          </a:p>
          <a:p>
            <a:pPr indent="0" marL="0">
              <a:buNone/>
            </a:pPr>
            <a:r>
              <a:rPr lang="en-US" sz="1300" dirty="0">
                <a:solidFill>
                  <a:srgbClr val="CADCFC"/>
                </a:solidFill>
                <a:latin typeface="Calibri" pitchFamily="34" charset="0"/>
                <a:ea typeface="Calibri" pitchFamily="34" charset="-122"/>
                <a:cs typeface="Calibri" pitchFamily="34" charset="-120"/>
              </a:rPr>
              <a:t>More form templates and voice input next</a:t>
            </a:r>
            <a:endParaRPr lang="en-US" sz="1700" dirty="0"/>
          </a:p>
        </p:txBody>
      </p:sp>
      <p:sp>
        <p:nvSpPr>
          <p:cNvPr id="11" name="Text 9"/>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Built from real eSeva shop workflows in Hyderabad.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SevaLens - Snapdragon AI Lab Build &amp; Present Challenge</dc:title>
  <dc:subject>PptxGenJS Presentation</dc:subject>
  <dc:creator>Syed Ahmed</dc:creator>
  <cp:lastModifiedBy>Syed Ahmed</cp:lastModifiedBy>
  <cp:revision>1</cp:revision>
  <dcterms:created xsi:type="dcterms:W3CDTF">2026-09-29T13:12:10Z</dcterms:created>
  <dcterms:modified xsi:type="dcterms:W3CDTF">2026-09-29T13:12:10Z</dcterms:modified>
</cp:coreProperties>
</file>